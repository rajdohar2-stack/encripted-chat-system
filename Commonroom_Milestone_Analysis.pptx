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685800"/>
            <a:ext cx="1920240" cy="283464"/>
          </a:xfrm>
          <a:prstGeom prst="roundRect">
            <a:avLst>
              <a:gd name="adj" fmla="val 12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699516"/>
            <a:ext cx="1865376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02A24"/>
                </a:solidFill>
                <a:latin typeface="Aptos"/>
              </a:rPr>
              <a:t>MILESTONE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731520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ptos"/>
              </a:rPr>
              <a:t>COMMONROOM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7772400" cy="9144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D8E9D1"/>
                </a:solidFill>
                <a:latin typeface="Aptos"/>
              </a:rPr>
              <a:t>Progress ? Evidence ? Risk
Next Milestone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657600"/>
            <a:ext cx="6949440" cy="34747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DDC76"/>
                </a:solidFill>
                <a:latin typeface="Aptos"/>
              </a:rPr>
              <a:t>PROJECT REVIEW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133087"/>
            <a:ext cx="6949440" cy="38404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Suraj Dohar  |  End-to-End Encrypted Chat 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508760"/>
            <a:ext cx="2788920" cy="804672"/>
          </a:xfrm>
          <a:prstGeom prst="roundRect">
            <a:avLst>
              <a:gd name="adj" fmla="val 12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627631"/>
            <a:ext cx="2286000" cy="21031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A24"/>
                </a:solidFill>
                <a:latin typeface="Aptos"/>
              </a:rP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874519"/>
            <a:ext cx="2331720" cy="26517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24"/>
                </a:solidFill>
                <a:latin typeface="Aptos"/>
              </a:rPr>
              <a:t>Core chat + crypto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743200"/>
            <a:ext cx="2788920" cy="804672"/>
          </a:xfrm>
          <a:prstGeom prst="roundRect">
            <a:avLst>
              <a:gd name="adj" fmla="val 12000"/>
            </a:avLst>
          </a:prstGeom>
          <a:solidFill>
            <a:srgbClr val="548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862072"/>
            <a:ext cx="2286000" cy="21031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A24"/>
                </a:solidFill>
                <a:latin typeface="Aptos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108960"/>
            <a:ext cx="2331720" cy="26517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24"/>
                </a:solidFill>
                <a:latin typeface="Aptos"/>
              </a:rPr>
              <a:t>Local regression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3977639"/>
            <a:ext cx="2788920" cy="804672"/>
          </a:xfrm>
          <a:prstGeom prst="roundRect">
            <a:avLst>
              <a:gd name="adj" fmla="val 12000"/>
            </a:avLst>
          </a:prstGeom>
          <a:solidFill>
            <a:srgbClr val="E8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4096511"/>
            <a:ext cx="2286000" cy="21031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A24"/>
                </a:solidFill>
                <a:latin typeface="Aptos"/>
              </a:rPr>
              <a:t>HARDEN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343400"/>
            <a:ext cx="2331720" cy="26517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02A24"/>
                </a:solidFill>
                <a:latin typeface="Aptos"/>
              </a:rPr>
              <a:t>Live acceptance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199632"/>
            <a:ext cx="7315200" cy="2560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B5C9BE"/>
                </a:solidFill>
                <a:latin typeface="Aptos"/>
              </a:rPr>
              <a:t>Assessment is based on project source and focused local checks; hosted acceptance remains separate.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10972800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01  / 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4846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73A31"/>
                </a:solidFill>
                <a:latin typeface="Aptos"/>
              </a:rPr>
              <a:t>Executive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28248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9144000" cy="14630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93008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64008" cy="1965960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81912"/>
            <a:ext cx="3127248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DDC76"/>
                </a:solidFill>
                <a:latin typeface="Aptos"/>
              </a:rPr>
              <a:t>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74519"/>
            <a:ext cx="3127248" cy="34747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Strong implementation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295144"/>
            <a:ext cx="3127248" cy="960119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The core product path is present: identity, conversations, encrypted messages, and persistence.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493008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64008" cy="1965960"/>
          </a:xfrm>
          <a:prstGeom prst="rect">
            <a:avLst/>
          </a:prstGeom>
          <a:solidFill>
            <a:srgbClr val="548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581912"/>
            <a:ext cx="3127248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48A88"/>
                </a:solidFill>
                <a:latin typeface="Aptos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1874519"/>
            <a:ext cx="3127248" cy="34747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Local behavior checked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295144"/>
            <a:ext cx="3127248" cy="960119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Focused API tests verified chat scoping, member authorization, recipient filtering, and sender-only deletion.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417320"/>
            <a:ext cx="3493008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417320"/>
            <a:ext cx="64008" cy="1965960"/>
          </a:xfrm>
          <a:prstGeom prst="rect">
            <a:avLst/>
          </a:prstGeom>
          <a:solidFill>
            <a:srgbClr val="E8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581912"/>
            <a:ext cx="3127248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8A15B"/>
                </a:solidFill>
                <a:latin typeface="Aptos"/>
              </a:rPr>
              <a:t>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1874519"/>
            <a:ext cx="3127248" cy="34747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Hosted acceptance 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295144"/>
            <a:ext cx="3127248" cy="960119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Code presence and local tests do not establish that Render/Firebase deployment has the current changes.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886200"/>
            <a:ext cx="10652760" cy="1097280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114800"/>
            <a:ext cx="10104120" cy="594360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"/>
              </a:rPr>
              <a:t>Overall conclusion: implementation maturity is ahead of deployment assurance.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2736A"/>
                </a:solidFill>
                <a:latin typeface="Aptos"/>
              </a:rPr>
              <a:t>Recommended focus: one controlled multi-account live test, then automate the same acceptance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10972800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02  /  STATUS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4846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73A31"/>
                </a:solidFill>
                <a:latin typeface="Aptos"/>
              </a:rPr>
              <a:t>Milestone 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28248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9144000" cy="14630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17320"/>
          <a:ext cx="110185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703320"/>
                <a:gridCol w="2057400"/>
                <a:gridCol w="3429000"/>
              </a:tblGrid>
              <a:tr h="6466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MILESTONE</a:t>
                      </a:r>
                    </a:p>
                  </a:txBody>
                  <a:tcPr marL="82296" marR="54864" marT="45720" marB="36576" anchor="ctr">
                    <a:solidFill>
                      <a:srgbClr val="173A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DELIVERABLE</a:t>
                      </a:r>
                    </a:p>
                  </a:txBody>
                  <a:tcPr marL="82296" marR="54864" marT="45720" marB="36576" anchor="ctr">
                    <a:solidFill>
                      <a:srgbClr val="173A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82296" marR="54864" marT="45720" marB="36576" anchor="ctr">
                    <a:solidFill>
                      <a:srgbClr val="173A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 / GAP</a:t>
                      </a:r>
                    </a:p>
                  </a:txBody>
                  <a:tcPr marL="82296" marR="54864" marT="45720" marB="36576" anchor="ctr">
                    <a:solidFill>
                      <a:srgbClr val="173A31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M1  Foundation</a:t>
                      </a:r>
                    </a:p>
                  </a:txBody>
                  <a:tcPr marL="82296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Frontend, Flask API, local + hosted configuration</a:t>
                      </a:r>
                    </a:p>
                  </a:txBody>
                  <a:tcPr marL="82296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Implemented in source</a:t>
                      </a:r>
                    </a:p>
                  </a:txBody>
                  <a:tcPr marL="82296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Local run / deployment evidence</a:t>
                      </a:r>
                    </a:p>
                  </a:txBody>
                  <a:tcPr marL="82296" marR="54864" marT="45720" marB="36576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M2  Identity &amp; access</a:t>
                      </a:r>
                    </a:p>
                  </a:txBody>
                  <a:tcPr marL="82296" marR="54864" marT="45720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Accounts, requests, membership checks</a:t>
                      </a:r>
                    </a:p>
                  </a:txBody>
                  <a:tcPr marL="82296" marR="54864" marT="45720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Implemented in source</a:t>
                      </a:r>
                    </a:p>
                  </a:txBody>
                  <a:tcPr marL="82296" marR="54864" marT="45720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Local API flows</a:t>
                      </a:r>
                    </a:p>
                  </a:txBody>
                  <a:tcPr marL="82296" marR="54864" marT="45720" marB="36576" anchor="ctr">
                    <a:solidFill>
                      <a:srgbClr val="EAF1E3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M3  Encryption</a:t>
                      </a:r>
                    </a:p>
                  </a:txBody>
                  <a:tcPr marL="82296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AES-GCM payloads + RSA-OAEP envelopes</a:t>
                      </a:r>
                    </a:p>
                  </a:txBody>
                  <a:tcPr marL="82296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Implemented in source</a:t>
                      </a:r>
                    </a:p>
                  </a:txBody>
                  <a:tcPr marL="82296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Browser crypto path; needs broader QA</a:t>
                      </a:r>
                    </a:p>
                  </a:txBody>
                  <a:tcPr marL="82296" marR="54864" marT="45720" marB="36576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M4  Persistence</a:t>
                      </a:r>
                    </a:p>
                  </a:txBody>
                  <a:tcPr marL="82296" marR="54864" marT="45720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SQLite local; Firebase hosted path</a:t>
                      </a:r>
                    </a:p>
                  </a:txBody>
                  <a:tcPr marL="82296" marR="54864" marT="45720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Implemented in source</a:t>
                      </a:r>
                    </a:p>
                  </a:txBody>
                  <a:tcPr marL="82296" marR="54864" marT="45720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Hosted persistence needs live check</a:t>
                      </a:r>
                    </a:p>
                  </a:txBody>
                  <a:tcPr marL="82296" marR="54864" marT="45720" marB="36576" anchor="ctr">
                    <a:solidFill>
                      <a:srgbClr val="EAF1E3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M5  Chat features</a:t>
                      </a:r>
                    </a:p>
                  </a:txBody>
                  <a:tcPr marL="82296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Direct/group, images, deletion, polling</a:t>
                      </a:r>
                    </a:p>
                  </a:txBody>
                  <a:tcPr marL="82296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Implemented in source</a:t>
                      </a:r>
                    </a:p>
                  </a:txBody>
                  <a:tcPr marL="82296" marR="54864" marT="45720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Focused local deletion check</a:t>
                      </a:r>
                    </a:p>
                  </a:txBody>
                  <a:tcPr marL="82296" marR="54864" marT="45720" marB="36576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M6  Operations</a:t>
                      </a:r>
                    </a:p>
                  </a:txBody>
                  <a:tcPr marL="82296" marR="54864" marT="45720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Hosting, health, admin viewer</a:t>
                      </a:r>
                    </a:p>
                  </a:txBody>
                  <a:tcPr marL="82296" marR="54864" marT="45720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Partially verified</a:t>
                      </a:r>
                    </a:p>
                  </a:txBody>
                  <a:tcPr marL="82296" marR="54864" marT="45720" marB="36576" anchor="ctr">
                    <a:solidFill>
                      <a:srgbClr val="EAF1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3029"/>
                          </a:solidFill>
                          <a:latin typeface="Aptos"/>
                        </a:defRPr>
                      </a:pPr>
                      <a:r>
                        <a:t>Render/Firebase acceptance pending</a:t>
                      </a:r>
                    </a:p>
                  </a:txBody>
                  <a:tcPr marL="82296" marR="54864" marT="45720" marB="36576" anchor="ctr">
                    <a:solidFill>
                      <a:srgbClr val="EAF1E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053328"/>
            <a:ext cx="10789920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62736A"/>
                </a:solidFill>
                <a:latin typeface="Aptos"/>
              </a:rPr>
              <a:t>Status labels refer to evidence available in this project workspace?not a formal external audit.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10972800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03  /  DELIVERY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4846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73A31"/>
                </a:solidFill>
                <a:latin typeface="Aptos"/>
              </a:rPr>
              <a:t>Milestone dependencies &amp; critical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28248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9144000" cy="14630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198424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" y="1984248"/>
            <a:ext cx="384048" cy="283464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997964"/>
            <a:ext cx="329184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DDC76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432304"/>
            <a:ext cx="1691640" cy="42062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Account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971800"/>
            <a:ext cx="1691640" cy="49377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User ID + registered public key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87752" y="2743200"/>
            <a:ext cx="274320" cy="0"/>
          </a:xfrm>
          <a:prstGeom prst="line">
            <a:avLst/>
          </a:prstGeom>
          <a:ln w="25400">
            <a:solidFill>
              <a:srgbClr val="BDD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26079" y="1828800"/>
            <a:ext cx="198424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72384" y="1984248"/>
            <a:ext cx="384048" cy="283464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9815" y="1997964"/>
            <a:ext cx="329184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DDC76"/>
                </a:solidFill>
                <a:latin typeface="Aptos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2432304"/>
            <a:ext cx="1691640" cy="42062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Conversation membership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72384" y="2971800"/>
            <a:ext cx="1691640" cy="49377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Authoritative member list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919472" y="2743200"/>
            <a:ext cx="274320" cy="0"/>
          </a:xfrm>
          <a:prstGeom prst="line">
            <a:avLst/>
          </a:prstGeom>
          <a:ln w="25400">
            <a:solidFill>
              <a:srgbClr val="BDD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257800" y="1828800"/>
            <a:ext cx="198424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04104" y="1984248"/>
            <a:ext cx="384048" cy="283464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1536" y="1997964"/>
            <a:ext cx="329184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DDC76"/>
                </a:solidFill>
                <a:latin typeface="Aptos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4104" y="2432304"/>
            <a:ext cx="1691640" cy="42062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Message encryption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4" y="2971800"/>
            <a:ext cx="1691640" cy="49377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Envelope built for each member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51192" y="2743200"/>
            <a:ext cx="274320" cy="0"/>
          </a:xfrm>
          <a:prstGeom prst="line">
            <a:avLst/>
          </a:prstGeom>
          <a:ln w="25400">
            <a:solidFill>
              <a:srgbClr val="BDD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89519" y="1828800"/>
            <a:ext cx="198424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35823" y="1984248"/>
            <a:ext cx="384048" cy="283464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63255" y="1997964"/>
            <a:ext cx="329184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DDC76"/>
                </a:solidFill>
                <a:latin typeface="Aptos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5823" y="2432304"/>
            <a:ext cx="1691640" cy="42062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Scoped API 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3" y="2971800"/>
            <a:ext cx="1691640" cy="49377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conversation_id + membership validation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82911" y="2743200"/>
            <a:ext cx="274321" cy="0"/>
          </a:xfrm>
          <a:prstGeom prst="line">
            <a:avLst/>
          </a:prstGeom>
          <a:ln w="25400">
            <a:solidFill>
              <a:srgbClr val="BDDC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921240" y="1828800"/>
            <a:ext cx="198424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67544" y="1984248"/>
            <a:ext cx="384048" cy="283464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4976" y="1997964"/>
            <a:ext cx="329184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DDC76"/>
                </a:solidFill>
                <a:latin typeface="Aptos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67544" y="2432304"/>
            <a:ext cx="1691640" cy="42062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Decrypt + display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67544" y="2971800"/>
            <a:ext cx="1691640" cy="49377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2736A"/>
                </a:solidFill>
                <a:latin typeface="Aptos"/>
              </a:rPr>
              <a:t>Recipient needs matching private key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20624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F8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407408"/>
            <a:ext cx="4663440" cy="2560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8A15B"/>
                </a:solidFill>
                <a:latin typeface="Aptos"/>
              </a:rPr>
              <a:t>CRITICAL PATH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736592"/>
            <a:ext cx="4617720" cy="4572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3029"/>
                </a:solidFill>
                <a:latin typeface="Aptos"/>
              </a:rPr>
              <a:t>Correct key + correct conversation membership must both hold.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4206240"/>
            <a:ext cx="5166360" cy="1143000"/>
          </a:xfrm>
          <a:prstGeom prst="roundRect">
            <a:avLst>
              <a:gd name="adj" fmla="val 12000"/>
            </a:avLst>
          </a:prstGeom>
          <a:solidFill>
            <a:srgbClr val="E7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407408"/>
            <a:ext cx="4663440" cy="2560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48A88"/>
                </a:solidFill>
                <a:latin typeface="Aptos"/>
              </a:rPr>
              <a:t>USER-VISIBLE FAILURE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736592"/>
            <a:ext cx="4617720" cy="4572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3029"/>
                </a:solidFill>
                <a:latin typeface="Aptos"/>
              </a:rPr>
              <a:t>Wrong chat scope looks like chat mixing; wrong key/envelope looks like decrypt failure.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10972800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04  /  ROOT-CAUSE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4846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73A31"/>
                </a:solidFill>
                <a:latin typeface="Aptos"/>
              </a:rPr>
              <a:t>Quality analysis ? isolation vs decryption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28248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9144000" cy="14630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5285232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17320"/>
            <a:ext cx="64008" cy="1828800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81912"/>
            <a:ext cx="4919472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DDC76"/>
                </a:solidFill>
                <a:latin typeface="Aptos"/>
              </a:rPr>
              <a:t>ISOLATION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74519"/>
            <a:ext cx="4919472" cy="34747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Conversation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95144"/>
            <a:ext cx="4919472" cy="822959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API read uses requested conversation ID; membership is checked before records are returned.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17320"/>
            <a:ext cx="5285232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417320"/>
            <a:ext cx="64008" cy="1828800"/>
          </a:xfrm>
          <a:prstGeom prst="rect">
            <a:avLst/>
          </a:prstGeom>
          <a:solidFill>
            <a:srgbClr val="548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581912"/>
            <a:ext cx="4919472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48A88"/>
                </a:solidFill>
                <a:latin typeface="Aptos"/>
              </a:rPr>
              <a:t>DECRYPTION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874519"/>
            <a:ext cx="4919472" cy="34747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3A31"/>
                </a:solidFill>
                <a:latin typeface="Aptos"/>
              </a:rPr>
              <a:t>Recipient key envelope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295144"/>
            <a:ext cx="4919472" cy="822959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Client needs an envelope for its own account and the matching private key to decrypt.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657600"/>
            <a:ext cx="5074920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840480"/>
            <a:ext cx="4572000" cy="2743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A31"/>
                </a:solidFill>
                <a:latin typeface="Aptos"/>
              </a:rPr>
              <a:t>DIAGNOSTIC MATRIX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224528"/>
            <a:ext cx="274320" cy="256032"/>
          </a:xfrm>
          <a:prstGeom prst="roundRect">
            <a:avLst>
              <a:gd name="adj" fmla="val 12000"/>
            </a:avLst>
          </a:prstGeom>
          <a:solidFill>
            <a:srgbClr val="E8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215384"/>
            <a:ext cx="4206240" cy="28346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E3029"/>
                </a:solidFill>
                <a:latin typeface="Aptos"/>
              </a:rPr>
              <a:t>Wrong conversation_id / stale mixed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663440"/>
            <a:ext cx="274320" cy="256032"/>
          </a:xfrm>
          <a:prstGeom prst="roundRect">
            <a:avLst>
              <a:gd name="adj" fmla="val 12000"/>
            </a:avLst>
          </a:prstGeom>
          <a:solidFill>
            <a:srgbClr val="B8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654296"/>
            <a:ext cx="4206240" cy="28346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E3029"/>
                </a:solidFill>
                <a:latin typeface="Aptos"/>
              </a:rPr>
              <a:t>Missing recipient envelope / wrong private key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657600"/>
            <a:ext cx="5074920" cy="1572768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840480"/>
            <a:ext cx="4572000" cy="2743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73A31"/>
                </a:solidFill>
                <a:latin typeface="Aptos"/>
              </a:rPr>
              <a:t>CURRENT 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206240"/>
            <a:ext cx="4526280" cy="85039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buChar char="?"/>
              <a:spcAft>
                <a:spcPts val="500"/>
              </a:spcAft>
              <a:defRPr sz="1100">
                <a:solidFill>
                  <a:srgbClr val="1E3029"/>
                </a:solidFill>
                <a:latin typeface="Aptos"/>
              </a:defRPr>
            </a:pPr>
            <a:r>
              <a:t>Local API test: two chats isolated; malformed recipient record skipped.</a:t>
            </a:r>
          </a:p>
          <a:p>
            <a:pPr>
              <a:buChar char="?"/>
              <a:spcAft>
                <a:spcPts val="500"/>
              </a:spcAft>
              <a:defRPr sz="1100">
                <a:solidFill>
                  <a:srgbClr val="1E3029"/>
                </a:solidFill>
                <a:latin typeface="Aptos"/>
              </a:defRPr>
            </a:pPr>
            <a:r>
              <a:t>Hosted records/users were not inspected in this check.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23560"/>
            <a:ext cx="10515600" cy="4114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2736A"/>
                </a:solidFill>
                <a:latin typeface="Aptos"/>
              </a:rPr>
              <a:t>Next: record each test account ID, conversation ID, returned message IDs, and key-envelope presence during live acceptance.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10972800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05  / 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4846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73A31"/>
                </a:solidFill>
                <a:latin typeface="Aptos"/>
              </a:rPr>
              <a:t>Risk register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28248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9144000" cy="14630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530352" cy="457200"/>
          </a:xfrm>
          <a:prstGeom prst="roundRect">
            <a:avLst>
              <a:gd name="adj" fmla="val 12000"/>
            </a:avLst>
          </a:prstGeom>
          <a:solidFill>
            <a:srgbClr val="B8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72184"/>
            <a:ext cx="475488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89888"/>
            <a:ext cx="2377440" cy="32918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Key loss / mismatch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435608"/>
            <a:ext cx="1051560" cy="283464"/>
          </a:xfrm>
          <a:prstGeom prst="roundRect">
            <a:avLst>
              <a:gd name="adj" fmla="val 12000"/>
            </a:avLst>
          </a:prstGeom>
          <a:solidFill>
            <a:srgbClr val="F8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1449324"/>
            <a:ext cx="996695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85B45"/>
                </a:solidFill>
                <a:latin typeface="Aptos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389888"/>
            <a:ext cx="6172200" cy="43891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Keep verified encrypted backup; test restore before device migration.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31136"/>
            <a:ext cx="530352" cy="457200"/>
          </a:xfrm>
          <a:prstGeom prst="roundRect">
            <a:avLst>
              <a:gd name="adj" fmla="val 12000"/>
            </a:avLst>
          </a:prstGeom>
          <a:solidFill>
            <a:srgbClr val="B8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331720"/>
            <a:ext cx="475488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249424"/>
            <a:ext cx="2377440" cy="32918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Hosted version drift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2295144"/>
            <a:ext cx="1051560" cy="283464"/>
          </a:xfrm>
          <a:prstGeom prst="roundRect">
            <a:avLst>
              <a:gd name="adj" fmla="val 12000"/>
            </a:avLst>
          </a:prstGeom>
          <a:solidFill>
            <a:srgbClr val="F8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0752" y="2308860"/>
            <a:ext cx="996695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85B45"/>
                </a:solidFill>
                <a:latin typeface="Aptos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249424"/>
            <a:ext cx="6172200" cy="43891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Verify deployed frontend/API commit and smoke-test after deployment.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090672"/>
            <a:ext cx="530352" cy="457200"/>
          </a:xfrm>
          <a:prstGeom prst="roundRect">
            <a:avLst>
              <a:gd name="adj" fmla="val 12000"/>
            </a:avLst>
          </a:prstGeom>
          <a:solidFill>
            <a:srgbClr val="E8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191256"/>
            <a:ext cx="475488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R3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108960"/>
            <a:ext cx="2377440" cy="32918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Data scoping regression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3154679"/>
            <a:ext cx="1051560" cy="283464"/>
          </a:xfrm>
          <a:prstGeom prst="roundRect">
            <a:avLst>
              <a:gd name="adj" fmla="val 12000"/>
            </a:avLst>
          </a:prstGeom>
          <a:solidFill>
            <a:srgbClr val="F8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3168396"/>
            <a:ext cx="996695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8A15B"/>
                </a:solidFill>
                <a:latin typeface="Aptos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108960"/>
            <a:ext cx="6172200" cy="43891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Automate two-conversation isolation and non-member authorization tests.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950208"/>
            <a:ext cx="530352" cy="457200"/>
          </a:xfrm>
          <a:prstGeom prst="roundRect">
            <a:avLst>
              <a:gd name="adj" fmla="val 12000"/>
            </a:avLst>
          </a:prstGeom>
          <a:solidFill>
            <a:srgbClr val="E8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050792"/>
            <a:ext cx="475488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R4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968496"/>
            <a:ext cx="2377440" cy="32918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Firebase persistence gaps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03320" y="4014216"/>
            <a:ext cx="1051560" cy="283464"/>
          </a:xfrm>
          <a:prstGeom prst="roundRect">
            <a:avLst>
              <a:gd name="adj" fmla="val 12000"/>
            </a:avLst>
          </a:prstGeom>
          <a:solidFill>
            <a:srgbClr val="E7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30752" y="4027932"/>
            <a:ext cx="996695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E8A15B"/>
                </a:solidFill>
                <a:latin typeface="Aptos"/>
              </a:rPr>
              <a:t>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3968496"/>
            <a:ext cx="6172200" cy="43891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Test write/read after restart; inspect explicit health and server logs.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809744"/>
            <a:ext cx="530352" cy="457200"/>
          </a:xfrm>
          <a:prstGeom prst="roundRect">
            <a:avLst>
              <a:gd name="adj" fmla="val 12000"/>
            </a:avLst>
          </a:prstGeom>
          <a:solidFill>
            <a:srgbClr val="548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910328"/>
            <a:ext cx="475488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R5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828031"/>
            <a:ext cx="2377440" cy="32918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Admin surface exposure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03320" y="4873752"/>
            <a:ext cx="1051560" cy="283464"/>
          </a:xfrm>
          <a:prstGeom prst="roundRect">
            <a:avLst>
              <a:gd name="adj" fmla="val 12000"/>
            </a:avLst>
          </a:prstGeom>
          <a:solidFill>
            <a:srgbClr val="E7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30752" y="4887468"/>
            <a:ext cx="996695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548A88"/>
                </a:solidFill>
                <a:latin typeface="Aptos"/>
              </a:rPr>
              <a:t>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4828031"/>
            <a:ext cx="6172200" cy="43891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Keep allowlist minimal; admin viewer shows encrypted records + metadata.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10972800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06  /  MEASURABLE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4846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73A31"/>
                </a:solidFill>
                <a:latin typeface="Aptos"/>
              </a:rPr>
              <a:t>Recommended milestone acceptance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28248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9144000" cy="14630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53312"/>
            <a:ext cx="525780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481328"/>
            <a:ext cx="4846320" cy="29260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Conversation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847088"/>
            <a:ext cx="4846320" cy="35661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2736A"/>
                </a:solidFill>
                <a:latin typeface="Aptos"/>
              </a:rPr>
              <a:t>For A?B and A?C, each chat returns only its conversation?s messages.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2286000"/>
            <a:ext cx="4800600" cy="283464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299716"/>
            <a:ext cx="4745736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0 cross-conversation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1353312"/>
            <a:ext cx="525780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81328"/>
            <a:ext cx="4846320" cy="29260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Membership enforcement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847088"/>
            <a:ext cx="4846320" cy="35661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2736A"/>
                </a:solidFill>
                <a:latin typeface="Aptos"/>
              </a:rPr>
              <a:t>A non-member requests a conversation message endpoint.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286000"/>
            <a:ext cx="4800600" cy="283464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299716"/>
            <a:ext cx="4745736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HTTP 404 / no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834640"/>
            <a:ext cx="525780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2962656"/>
            <a:ext cx="4846320" cy="29260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Recipient envelope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328416"/>
            <a:ext cx="4846320" cy="35661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2736A"/>
                </a:solidFill>
                <a:latin typeface="Aptos"/>
              </a:rPr>
              <a:t>Each new message contains envelopes for exactly current members.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" y="3767328"/>
            <a:ext cx="4800600" cy="283464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781044"/>
            <a:ext cx="4745736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IDs equal member set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81928" y="2834640"/>
            <a:ext cx="525780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962656"/>
            <a:ext cx="4846320" cy="29260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Decrypt round-trip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328416"/>
            <a:ext cx="4846320" cy="35661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2736A"/>
                </a:solidFill>
                <a:latin typeface="Aptos"/>
              </a:rPr>
              <a:t>Every test participant decrypts their own addressed test payload.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767328"/>
            <a:ext cx="4800600" cy="283464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3781044"/>
            <a:ext cx="4745736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100% in controlled 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315968"/>
            <a:ext cx="525780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4443984"/>
            <a:ext cx="4846320" cy="29260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Delete propagation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" y="4809744"/>
            <a:ext cx="4846320" cy="35661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2736A"/>
                </a:solidFill>
                <a:latin typeface="Aptos"/>
              </a:rPr>
              <a:t>Sender deletes message; other open client removes it after polling.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59" y="5248656"/>
            <a:ext cx="4800600" cy="283464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5262372"/>
            <a:ext cx="4745736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Visible within poll cycle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81928" y="4315968"/>
            <a:ext cx="5257800" cy="12252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443984"/>
            <a:ext cx="4846320" cy="29260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3A31"/>
                </a:solidFill>
                <a:latin typeface="Aptos"/>
              </a:rPr>
              <a:t>Hosted durability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809744"/>
            <a:ext cx="4846320" cy="35661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2736A"/>
                </a:solidFill>
                <a:latin typeface="Aptos"/>
              </a:rPr>
              <a:t>Send, restart/redeploy, fetch same test record.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5248656"/>
            <a:ext cx="4800600" cy="283464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5262372"/>
            <a:ext cx="4745736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Record remains available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10972800" cy="219456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548A88"/>
                </a:solidFill>
                <a:latin typeface="Aptos"/>
              </a:rPr>
              <a:t>07  / 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66928"/>
            <a:ext cx="10972800" cy="4846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73A31"/>
                </a:solidFill>
                <a:latin typeface="Aptos"/>
              </a:rPr>
              <a:t>Next milestone plan ? prioritize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510528"/>
            <a:ext cx="11128248" cy="10972"/>
          </a:xfrm>
          <a:prstGeom prst="rect">
            <a:avLst/>
          </a:prstGeom>
          <a:solidFill>
            <a:srgbClr val="DCE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9144000" cy="146304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62736A"/>
                </a:solidFill>
                <a:latin typeface="Aptos"/>
              </a:rPr>
              <a:t>COMMONROOM  ?  MILESTONE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47104"/>
            <a:ext cx="502920" cy="1828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62736A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621792" cy="512064"/>
          </a:xfrm>
          <a:prstGeom prst="roundRect">
            <a:avLst>
              <a:gd name="adj" fmla="val 12000"/>
            </a:avLst>
          </a:prstGeom>
          <a:solidFill>
            <a:srgbClr val="B8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536192"/>
            <a:ext cx="566928" cy="24688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26464"/>
            <a:ext cx="269748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Hosted smoke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426464"/>
            <a:ext cx="5440680" cy="5029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Verify deployed commit, API health, account login, and Firebase persistence.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1508760"/>
            <a:ext cx="1417320" cy="283464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94392" y="1522476"/>
            <a:ext cx="1362456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Before milestone sign-off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59736"/>
            <a:ext cx="621792" cy="512064"/>
          </a:xfrm>
          <a:prstGeom prst="roundRect">
            <a:avLst>
              <a:gd name="adj" fmla="val 12000"/>
            </a:avLst>
          </a:prstGeom>
          <a:solidFill>
            <a:srgbClr val="E8A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578608"/>
            <a:ext cx="566928" cy="24688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468879"/>
            <a:ext cx="269748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Automate isolation suite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468879"/>
            <a:ext cx="5440680" cy="5029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Add API tests for two direct chats, group membership, malformed envelope, and denial.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551176"/>
            <a:ext cx="1417320" cy="283464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94392" y="2564892"/>
            <a:ext cx="1362456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Next development cycle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02152"/>
            <a:ext cx="621792" cy="512064"/>
          </a:xfrm>
          <a:prstGeom prst="roundRect">
            <a:avLst>
              <a:gd name="adj" fmla="val 12000"/>
            </a:avLst>
          </a:prstGeom>
          <a:solidFill>
            <a:srgbClr val="548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621024"/>
            <a:ext cx="566928" cy="24688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511296"/>
            <a:ext cx="269748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Key recovery walkthrough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511296"/>
            <a:ext cx="5440680" cy="5029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Test correct backup, wrong backup, missing envelope, and new-browser restoration.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3593592"/>
            <a:ext cx="1417320" cy="283464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4392" y="3607308"/>
            <a:ext cx="1362456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With test accounts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544568"/>
            <a:ext cx="621792" cy="512064"/>
          </a:xfrm>
          <a:prstGeom prst="roundRect">
            <a:avLst>
              <a:gd name="adj" fmla="val 12000"/>
            </a:avLst>
          </a:prstGeom>
          <a:solidFill>
            <a:srgbClr val="BDD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663440"/>
            <a:ext cx="566928" cy="24688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553712"/>
            <a:ext cx="269748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3A31"/>
                </a:solidFill>
                <a:latin typeface="Aptos"/>
              </a:rPr>
              <a:t>Operational hardening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553712"/>
            <a:ext cx="5440680" cy="5029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6A"/>
                </a:solidFill>
                <a:latin typeface="Aptos"/>
              </a:rPr>
              <a:t>Review admin allowlist, monitoring, error alerts, and backup/recovery steps.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4636007"/>
            <a:ext cx="1417320" cy="283464"/>
          </a:xfrm>
          <a:prstGeom prst="roundRect">
            <a:avLst>
              <a:gd name="adj" fmla="val 12000"/>
            </a:avLst>
          </a:prstGeom>
          <a:solidFill>
            <a:srgbClr val="EA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94392" y="4649723"/>
            <a:ext cx="1362456" cy="237744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3A31"/>
                </a:solidFill>
                <a:latin typeface="Aptos"/>
              </a:rPr>
              <a:t>After functional gate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715000"/>
            <a:ext cx="10561320" cy="502920"/>
          </a:xfrm>
          <a:prstGeom prst="roundRect">
            <a:avLst>
              <a:gd name="adj" fmla="val 12000"/>
            </a:avLst>
          </a:prstGeom>
          <a:solidFill>
            <a:srgbClr val="173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815584"/>
            <a:ext cx="10149840" cy="2560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Milestone exit: all acceptance criteria pass on the deployed service and results are recorded.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10058400" cy="2743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DDC76"/>
                </a:solidFill>
                <a:latin typeface="Aptos"/>
              </a:rPr>
              <a:t>ANALYSIS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332720" cy="10972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The core implementation is in place.
The next milestone should prove it end to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9875520" cy="7315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DCE9DF"/>
                </a:solidFill>
                <a:latin typeface="Aptos"/>
              </a:rPr>
              <a:t>Prioritize hosted verification, key-recovery evidence, and repeatable isolation tests before expanding scope.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343400"/>
            <a:ext cx="10332720" cy="18288"/>
          </a:xfrm>
          <a:prstGeom prst="rect">
            <a:avLst/>
          </a:prstGeom>
          <a:solidFill>
            <a:srgbClr val="527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2743200" cy="2743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DDC76"/>
                </a:solidFill>
                <a:latin typeface="Aptos"/>
              </a:rPr>
              <a:t>DECISION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47488"/>
            <a:ext cx="9875520" cy="62179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Approve a controlled two-account / two-conversation acceptance run as the next milestone 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36208"/>
            <a:ext cx="7315200" cy="20116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5C9BE"/>
                </a:solidFill>
                <a:latin typeface="Aptos"/>
              </a:rPr>
              <a:t>Suraj Dohar  ?  Commonroom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Commonroom Milestone Analysis</dc:title>
  <dc:subject>Progress, evidence, risk, and milestone acceptance criteria</dc:subject>
  <dc:creator>Suraj Dohar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