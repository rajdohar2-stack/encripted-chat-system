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21040" y="0"/>
            <a:ext cx="310896" cy="6858000"/>
          </a:xfrm>
          <a:prstGeom prst="rect">
            <a:avLst/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19" y="0"/>
            <a:ext cx="310896" cy="6858000"/>
          </a:xfrm>
          <a:prstGeom prst="rect">
            <a:avLst/>
          </a:prstGeom>
          <a:solidFill>
            <a:srgbClr val="19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10896" cy="6858000"/>
          </a:xfrm>
          <a:prstGeom prst="rect">
            <a:avLst/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41280" y="0"/>
            <a:ext cx="310896" cy="6858000"/>
          </a:xfrm>
          <a:prstGeom prst="rect">
            <a:avLst/>
          </a:prstGeom>
          <a:solidFill>
            <a:srgbClr val="19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81359" y="0"/>
            <a:ext cx="310896" cy="6858000"/>
          </a:xfrm>
          <a:prstGeom prst="rect">
            <a:avLst/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621792"/>
            <a:ext cx="1920240" cy="292608"/>
          </a:xfrm>
          <a:prstGeom prst="roundRect">
            <a:avLst>
              <a:gd name="adj" fmla="val 12000"/>
            </a:avLst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635508"/>
            <a:ext cx="1847088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02A24"/>
                </a:solidFill>
                <a:latin typeface="Aptos"/>
              </a:rPr>
              <a:t>PROJECT MILESTONE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7040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ptos"/>
              </a:rPr>
              <a:t>COMMONROOM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76272"/>
            <a:ext cx="722376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D8E9D1"/>
                </a:solidFill>
                <a:latin typeface="Aptos"/>
              </a:rPr>
              <a:t>End-to-End Encrypted
Chat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6576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DDC76"/>
                </a:solidFill>
                <a:latin typeface="Aptos"/>
              </a:rPr>
              <a:t>IMPLEMENTATION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187952"/>
            <a:ext cx="6217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Suraj Dohar  |  Micro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08192"/>
            <a:ext cx="7132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5C9BE"/>
                </a:solidFill>
                <a:latin typeface="Aptos"/>
              </a:rPr>
              <a:t>Browser cryptography  ?  Flask API  ?  Firebase persistence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280160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444751"/>
            <a:ext cx="1874519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02A24"/>
                </a:solidFill>
                <a:latin typeface="Aptos"/>
              </a:rPr>
              <a:t>BROWSER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2743200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548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0" y="2907792"/>
            <a:ext cx="1874519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02A24"/>
                </a:solidFill>
                <a:latin typeface="Aptos"/>
              </a:rPr>
              <a:t>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4251960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E8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4416552"/>
            <a:ext cx="1874519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02A24"/>
                </a:solidFill>
                <a:latin typeface="Aptos"/>
              </a:rPr>
              <a:t>STORAGE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738360" y="2029968"/>
            <a:ext cx="502920" cy="649224"/>
          </a:xfrm>
          <a:prstGeom prst="line">
            <a:avLst/>
          </a:prstGeom>
          <a:ln w="25400">
            <a:solidFill>
              <a:srgbClr val="D7E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9738360" y="3493008"/>
            <a:ext cx="502920" cy="676655"/>
          </a:xfrm>
          <a:prstGeom prst="line">
            <a:avLst/>
          </a:prstGeom>
          <a:ln w="25400">
            <a:solidFill>
              <a:srgbClr val="D7E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01  /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73A31"/>
                </a:solidFill>
                <a:latin typeface="Aptos"/>
              </a:rPr>
              <a:t>Project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C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686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36A"/>
                </a:solidFill>
                <a:latin typeface="Aptos"/>
              </a:rPr>
              <a:t>COMMONROOM  ?  MILESTONE IMPLEMENTATION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2736A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64008" cy="1920240"/>
          </a:xfrm>
          <a:prstGeom prst="rect">
            <a:avLst/>
          </a:prstGeom>
          <a:solidFill>
            <a:srgbClr val="E8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81912"/>
            <a:ext cx="31363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8A15B"/>
                </a:solidFill>
                <a:latin typeface="Aptos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56232"/>
            <a:ext cx="31363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A31"/>
                </a:solidFill>
                <a:latin typeface="Aptos"/>
              </a:rPr>
              <a:t>The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13432"/>
            <a:ext cx="3136392" cy="9509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6A"/>
                </a:solidFill>
                <a:latin typeface="Aptos"/>
              </a:rPr>
              <a:t>Deliver private conversations while keeping message content unreadable to the normal server workflow.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41732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417320"/>
            <a:ext cx="64008" cy="1920240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581912"/>
            <a:ext cx="31363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DDC76"/>
                </a:solidFill>
                <a:latin typeface="Aptos"/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1856232"/>
            <a:ext cx="31363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A31"/>
                </a:solidFill>
                <a:latin typeface="Aptos"/>
              </a:rPr>
              <a:t>The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313432"/>
            <a:ext cx="3136392" cy="9509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6A"/>
                </a:solidFill>
                <a:latin typeface="Aptos"/>
              </a:rPr>
              <a:t>Encrypt in the browser, wrap each message key for conversation members, then store encrypted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141732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5" y="1417320"/>
            <a:ext cx="64008" cy="1920240"/>
          </a:xfrm>
          <a:prstGeom prst="rect">
            <a:avLst/>
          </a:prstGeom>
          <a:solidFill>
            <a:srgbClr val="548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1581912"/>
            <a:ext cx="31363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48A88"/>
                </a:solidFill>
                <a:latin typeface="Aptos"/>
              </a:rPr>
              <a:t>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1856232"/>
            <a:ext cx="31363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A31"/>
                </a:solidFill>
                <a:latin typeface="Aptos"/>
              </a:rPr>
              <a:t>The 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2313432"/>
            <a:ext cx="3136392" cy="9509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6A"/>
                </a:solidFill>
                <a:latin typeface="Aptos"/>
              </a:rPr>
              <a:t>Web chat supporting direct and group conversations, encrypted text and images, and account recovery.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749039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"/>
              </a:rPr>
              <a:t>CORE OBJECTIVES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24528"/>
            <a:ext cx="502920" cy="438912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9768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BDDC76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4261104"/>
            <a:ext cx="4800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3029"/>
                </a:solidFill>
                <a:latin typeface="Aptos"/>
              </a:rPr>
              <a:t>Client-side encryption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224528"/>
            <a:ext cx="502920" cy="438912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29768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BDDC76"/>
                </a:solidFill>
                <a:latin typeface="Aptos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261104"/>
            <a:ext cx="4800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3029"/>
                </a:solidFill>
                <a:latin typeface="Aptos"/>
              </a:rPr>
              <a:t>Conversation isolation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974336"/>
            <a:ext cx="502920" cy="438912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047488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BDDC76"/>
                </a:solidFill>
                <a:latin typeface="Apto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5010912"/>
            <a:ext cx="4800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3029"/>
                </a:solidFill>
                <a:latin typeface="Aptos"/>
              </a:rPr>
              <a:t>Reliable key recovery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974336"/>
            <a:ext cx="502920" cy="438912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5047488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BDDC76"/>
                </a:solidFill>
                <a:latin typeface="Apto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8" y="5010912"/>
            <a:ext cx="4800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3029"/>
                </a:solidFill>
                <a:latin typeface="Aptos"/>
              </a:rPr>
              <a:t>Deployable web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02  /  DELIVERY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73A31"/>
                </a:solidFill>
                <a:latin typeface="Aptos"/>
              </a:rPr>
              <a:t>Milestone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C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686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36A"/>
                </a:solidFill>
                <a:latin typeface="Aptos"/>
              </a:rPr>
              <a:t>COMMONROOM  ?  MILESTONE IMPLEMENTATION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2736A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6A"/>
                </a:solidFill>
                <a:latin typeface="Aptos"/>
              </a:rPr>
              <a:t>Milestones are grouped by implemented capability; no schedule dates are assumed.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83080"/>
            <a:ext cx="349300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" y="1929384"/>
            <a:ext cx="548640" cy="292608"/>
          </a:xfrm>
          <a:prstGeom prst="roundRect">
            <a:avLst>
              <a:gd name="adj" fmla="val 12000"/>
            </a:avLst>
          </a:prstGeom>
          <a:solidFill>
            <a:srgbClr val="EA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43100"/>
            <a:ext cx="475488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M1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313432"/>
            <a:ext cx="3154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3A31"/>
                </a:solidFill>
                <a:latin typeface="Aptos"/>
              </a:rPr>
              <a:t>Web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715768"/>
            <a:ext cx="3108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2736A"/>
                </a:solidFill>
                <a:latin typeface="Aptos"/>
              </a:rPr>
              <a:t>Frontend, Flask API, HTTPS local mode, hosted configuration.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3" y="1783080"/>
            <a:ext cx="349300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08575" y="1929384"/>
            <a:ext cx="548640" cy="292608"/>
          </a:xfrm>
          <a:prstGeom prst="roundRect">
            <a:avLst>
              <a:gd name="adj" fmla="val 12000"/>
            </a:avLst>
          </a:prstGeom>
          <a:solidFill>
            <a:srgbClr val="EA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1" y="1943100"/>
            <a:ext cx="475488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5" y="2313432"/>
            <a:ext cx="3154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3A31"/>
                </a:solidFill>
                <a:latin typeface="Aptos"/>
              </a:rPr>
              <a:t>Identity &amp;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5" y="2715768"/>
            <a:ext cx="3108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2736A"/>
                </a:solidFill>
                <a:latin typeface="Aptos"/>
              </a:rPr>
              <a:t>Account registration/login, chat IDs, requests, membership checks.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6175" y="1783080"/>
            <a:ext cx="349300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0767" y="1929384"/>
            <a:ext cx="548640" cy="292608"/>
          </a:xfrm>
          <a:prstGeom prst="roundRect">
            <a:avLst>
              <a:gd name="adj" fmla="val 12000"/>
            </a:avLst>
          </a:prstGeom>
          <a:solidFill>
            <a:srgbClr val="EA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7343" y="1943100"/>
            <a:ext cx="475488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7" y="2313432"/>
            <a:ext cx="3154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3A31"/>
                </a:solidFill>
                <a:latin typeface="Aptos"/>
              </a:rPr>
              <a:t>E2EE messaging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7" y="2715768"/>
            <a:ext cx="3108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2736A"/>
                </a:solidFill>
                <a:latin typeface="Aptos"/>
              </a:rPr>
              <a:t>RSA identity keys, AES-GCM messages, recipient key envelopes.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3721608"/>
            <a:ext cx="349300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6384" y="3867912"/>
            <a:ext cx="548640" cy="292608"/>
          </a:xfrm>
          <a:prstGeom prst="roundRect">
            <a:avLst>
              <a:gd name="adj" fmla="val 12000"/>
            </a:avLst>
          </a:prstGeom>
          <a:solidFill>
            <a:srgbClr val="EA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881628"/>
            <a:ext cx="475488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M4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4251960"/>
            <a:ext cx="3154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3A31"/>
                </a:solidFill>
                <a:latin typeface="Aptos"/>
              </a:rPr>
              <a:t>Persistence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4654296"/>
            <a:ext cx="3108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2736A"/>
                </a:solidFill>
                <a:latin typeface="Aptos"/>
              </a:rPr>
              <a:t>SQLite locally; Firebase message storage in hosted mode.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43983" y="3721608"/>
            <a:ext cx="349300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08575" y="3867912"/>
            <a:ext cx="548640" cy="292608"/>
          </a:xfrm>
          <a:prstGeom prst="roundRect">
            <a:avLst>
              <a:gd name="adj" fmla="val 12000"/>
            </a:avLst>
          </a:prstGeom>
          <a:solidFill>
            <a:srgbClr val="EA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5151" y="3881628"/>
            <a:ext cx="475488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M5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8575" y="4251960"/>
            <a:ext cx="3154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3A31"/>
                </a:solidFill>
                <a:latin typeface="Aptos"/>
              </a:rPr>
              <a:t>Chat experience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8575" y="4654296"/>
            <a:ext cx="3108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2736A"/>
                </a:solidFill>
                <a:latin typeface="Aptos"/>
              </a:rPr>
              <a:t>Direct/group chat, image sharing, polling, delete-for-everyone.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66175" y="3721608"/>
            <a:ext cx="349300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30767" y="3867912"/>
            <a:ext cx="548640" cy="292608"/>
          </a:xfrm>
          <a:prstGeom prst="roundRect">
            <a:avLst>
              <a:gd name="adj" fmla="val 12000"/>
            </a:avLst>
          </a:prstGeom>
          <a:solidFill>
            <a:srgbClr val="EA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67343" y="3881628"/>
            <a:ext cx="475488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M6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0767" y="4251960"/>
            <a:ext cx="3154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3A31"/>
                </a:solidFill>
                <a:latin typeface="Aptos"/>
              </a:rPr>
              <a:t>Deployment &amp;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7" y="4654296"/>
            <a:ext cx="3108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2736A"/>
                </a:solidFill>
                <a:latin typeface="Aptos"/>
              </a:rPr>
              <a:t>GitHub Pages + Render setup, health endpoint, admin encrypted-record viewer.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943600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2736A"/>
                </a:solidFill>
                <a:latin typeface="Aptos"/>
              </a:rPr>
              <a:t>Status reflects capabilities present in the project source; hosted end-to-end acceptance still requires deployment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03  /  IMPLEMENTATION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73A31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C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686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36A"/>
                </a:solidFill>
                <a:latin typeface="Aptos"/>
              </a:rPr>
              <a:t>COMMONROOM  ?  MILESTONE IMPLEMENTATION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2736A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88036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057400"/>
            <a:ext cx="1097280" cy="292608"/>
          </a:xfrm>
          <a:prstGeom prst="roundRect">
            <a:avLst>
              <a:gd name="adj" fmla="val 12000"/>
            </a:avLst>
          </a:prstGeom>
          <a:solidFill>
            <a:srgbClr val="EA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71116"/>
            <a:ext cx="1024127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24688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73A31"/>
                </a:solidFill>
                <a:latin typeface="Aptos"/>
              </a:rPr>
              <a:t>Browser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8"/>
            <a:ext cx="2468880" cy="14173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buChar char="?"/>
              <a:spcAft>
                <a:spcPts val="800"/>
              </a:spcAft>
              <a:defRPr sz="1300">
                <a:solidFill>
                  <a:srgbClr val="1E3029"/>
                </a:solidFill>
                <a:latin typeface="Aptos"/>
              </a:defRPr>
            </a:pPr>
            <a:r>
              <a:t>HTML / CSS / JavaScript</a:t>
            </a:r>
          </a:p>
          <a:p>
            <a:pPr>
              <a:buChar char="?"/>
              <a:spcAft>
                <a:spcPts val="800"/>
              </a:spcAft>
              <a:defRPr sz="1300">
                <a:solidFill>
                  <a:srgbClr val="1E3029"/>
                </a:solidFill>
                <a:latin typeface="Aptos"/>
              </a:defRPr>
            </a:pPr>
            <a:r>
              <a:t>Web Crypto API</a:t>
            </a:r>
          </a:p>
          <a:p>
            <a:pPr>
              <a:buChar char="?"/>
              <a:spcAft>
                <a:spcPts val="800"/>
              </a:spcAft>
              <a:defRPr sz="1300">
                <a:solidFill>
                  <a:srgbClr val="1E3029"/>
                </a:solidFill>
                <a:latin typeface="Aptos"/>
              </a:defRPr>
            </a:pPr>
            <a:r>
              <a:t>Local private-key unlock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828800"/>
            <a:ext cx="288036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92040" y="2057400"/>
            <a:ext cx="1097280" cy="292608"/>
          </a:xfrm>
          <a:prstGeom prst="roundRect">
            <a:avLst>
              <a:gd name="adj" fmla="val 12000"/>
            </a:avLst>
          </a:prstGeom>
          <a:solidFill>
            <a:srgbClr val="E7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28616" y="2071116"/>
            <a:ext cx="1024127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548A88"/>
                </a:solidFill>
                <a:latin typeface="Aptos"/>
              </a:rP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514600"/>
            <a:ext cx="24688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73A31"/>
                </a:solidFill>
                <a:latin typeface="Aptos"/>
              </a:rPr>
              <a:t>Flask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127248"/>
            <a:ext cx="2423160" cy="14173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buChar char="?"/>
              <a:spcAft>
                <a:spcPts val="800"/>
              </a:spcAft>
              <a:defRPr sz="1300">
                <a:solidFill>
                  <a:srgbClr val="1E3029"/>
                </a:solidFill>
                <a:latin typeface="Aptos"/>
              </a:defRPr>
            </a:pPr>
            <a:r>
              <a:t>Authentication + sessions</a:t>
            </a:r>
          </a:p>
          <a:p>
            <a:pPr>
              <a:buChar char="?"/>
              <a:spcAft>
                <a:spcPts val="800"/>
              </a:spcAft>
              <a:defRPr sz="1300">
                <a:solidFill>
                  <a:srgbClr val="1E3029"/>
                </a:solidFill>
                <a:latin typeface="Aptos"/>
              </a:defRPr>
            </a:pPr>
            <a:r>
              <a:t>Conversation membership</a:t>
            </a:r>
          </a:p>
          <a:p>
            <a:pPr>
              <a:buChar char="?"/>
              <a:spcAft>
                <a:spcPts val="800"/>
              </a:spcAft>
              <a:defRPr sz="1300">
                <a:solidFill>
                  <a:srgbClr val="1E3029"/>
                </a:solidFill>
                <a:latin typeface="Aptos"/>
              </a:defRPr>
            </a:pPr>
            <a:r>
              <a:t>Encrypted message endpoints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1828800"/>
            <a:ext cx="288036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69680" y="2057400"/>
            <a:ext cx="1097280" cy="292608"/>
          </a:xfrm>
          <a:prstGeom prst="roundRect">
            <a:avLst>
              <a:gd name="adj" fmla="val 12000"/>
            </a:avLst>
          </a:prstGeom>
          <a:solidFill>
            <a:srgbClr val="F8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06255" y="2071116"/>
            <a:ext cx="1024127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8A15B"/>
                </a:solidFill>
                <a:latin typeface="Aptos"/>
              </a:rPr>
              <a:t>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514600"/>
            <a:ext cx="24688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73A31"/>
                </a:solidFill>
                <a:latin typeface="Aptos"/>
              </a:rPr>
              <a:t>Persistence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127248"/>
            <a:ext cx="2423160" cy="14173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buChar char="?"/>
              <a:spcAft>
                <a:spcPts val="800"/>
              </a:spcAft>
              <a:defRPr sz="1200">
                <a:solidFill>
                  <a:srgbClr val="1E3029"/>
                </a:solidFill>
                <a:latin typeface="Aptos"/>
              </a:defRPr>
            </a:pPr>
            <a:r>
              <a:t>SQLite in local mode</a:t>
            </a:r>
          </a:p>
          <a:p>
            <a:pPr>
              <a:buChar char="?"/>
              <a:spcAft>
                <a:spcPts val="800"/>
              </a:spcAft>
              <a:defRPr sz="1200">
                <a:solidFill>
                  <a:srgbClr val="1E3029"/>
                </a:solidFill>
                <a:latin typeface="Aptos"/>
              </a:defRPr>
            </a:pPr>
            <a:r>
              <a:t>Firebase Realtime Database hosted</a:t>
            </a:r>
          </a:p>
          <a:p>
            <a:pPr>
              <a:buChar char="?"/>
              <a:spcAft>
                <a:spcPts val="800"/>
              </a:spcAft>
              <a:defRPr sz="1200">
                <a:solidFill>
                  <a:srgbClr val="1E3029"/>
                </a:solidFill>
                <a:latin typeface="Aptos"/>
              </a:defRPr>
            </a:pPr>
            <a:r>
              <a:t>Conversation/account metadata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11880" y="3063240"/>
            <a:ext cx="960120" cy="0"/>
          </a:xfrm>
          <a:prstGeom prst="line">
            <a:avLst/>
          </a:prstGeom>
          <a:ln w="25400">
            <a:solidFill>
              <a:srgbClr val="548A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0" y="2688336"/>
            <a:ext cx="960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548A88"/>
                </a:solidFill>
                <a:latin typeface="Aptos"/>
              </a:rPr>
              <a:t>HTTPS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89520" y="3063240"/>
            <a:ext cx="960120" cy="0"/>
          </a:xfrm>
          <a:prstGeom prst="line">
            <a:avLst/>
          </a:prstGeom>
          <a:ln w="25400">
            <a:solidFill>
              <a:srgbClr val="548A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07808" y="2688336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548A88"/>
                </a:solidFill>
                <a:latin typeface="Aptos"/>
              </a:rPr>
              <a:t>API calls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257800"/>
            <a:ext cx="10287000" cy="621792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5431536"/>
            <a:ext cx="9966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GitHub Pages frontend  ?  Render API  ?  Firebase message store (hosted configuration)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04  /  CLIENT-SIDE E2EE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73A31"/>
                </a:solidFill>
                <a:latin typeface="Aptos"/>
              </a:rPr>
              <a:t>Milestone 3 ? encryption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C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686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36A"/>
                </a:solidFill>
                <a:latin typeface="Aptos"/>
              </a:rPr>
              <a:t>COMMONROOM  ?  MILESTONE IMPLEMENTATION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2736A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828800"/>
            <a:ext cx="20574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99339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66543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BDDC76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633472"/>
            <a:ext cx="178308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"/>
              </a:rPr>
              <a:t>Fresh content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200400"/>
            <a:ext cx="17830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2736A"/>
                </a:solidFill>
                <a:latin typeface="Aptos"/>
              </a:rPr>
              <a:t>AES-256-GCM key + 12-byte IV for each message.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60320" y="2944368"/>
            <a:ext cx="219456" cy="0"/>
          </a:xfrm>
          <a:prstGeom prst="line">
            <a:avLst/>
          </a:prstGeom>
          <a:ln w="25400">
            <a:solidFill>
              <a:srgbClr val="BDD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34640" y="1828800"/>
            <a:ext cx="20574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80944" y="199339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0944" y="2066543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BDDC76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0944" y="2633472"/>
            <a:ext cx="178308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"/>
              </a:rPr>
              <a:t>Encrypt payload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3200400"/>
            <a:ext cx="17830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2736A"/>
                </a:solidFill>
                <a:latin typeface="Aptos"/>
              </a:rPr>
              <a:t>Text, emoji, or image bytes encrypted in the browser.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19472" y="2944368"/>
            <a:ext cx="219456" cy="0"/>
          </a:xfrm>
          <a:prstGeom prst="line">
            <a:avLst/>
          </a:prstGeom>
          <a:ln w="25400">
            <a:solidFill>
              <a:srgbClr val="BDD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93792" y="1828800"/>
            <a:ext cx="20574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40096" y="199339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0096" y="2066543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BDDC76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633472"/>
            <a:ext cx="178308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"/>
              </a:rPr>
              <a:t>Wrap per member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6" y="3200400"/>
            <a:ext cx="17830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2736A"/>
                </a:solidFill>
                <a:latin typeface="Aptos"/>
              </a:rPr>
              <a:t>RSA-OAEP wraps AES key for every conversation public key.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78623" y="2944368"/>
            <a:ext cx="219456" cy="0"/>
          </a:xfrm>
          <a:prstGeom prst="line">
            <a:avLst/>
          </a:prstGeom>
          <a:ln w="25400">
            <a:solidFill>
              <a:srgbClr val="BDD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52944" y="1828800"/>
            <a:ext cx="20574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99248" y="199339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2066543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BDDC76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2633472"/>
            <a:ext cx="178308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"/>
              </a:rPr>
              <a:t>Store ciphertext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9248" y="3200400"/>
            <a:ext cx="17830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2736A"/>
                </a:solidFill>
                <a:latin typeface="Aptos"/>
              </a:rPr>
              <a:t>API receives ciphertext, IV, envelopes, and metadata.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637776" y="2944368"/>
            <a:ext cx="219456" cy="0"/>
          </a:xfrm>
          <a:prstGeom prst="line">
            <a:avLst/>
          </a:prstGeom>
          <a:ln w="25400">
            <a:solidFill>
              <a:srgbClr val="BDD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912096" y="1828800"/>
            <a:ext cx="20574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58400" y="199339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0" y="2066543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BDDC76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2633472"/>
            <a:ext cx="178308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"/>
              </a:rPr>
              <a:t>Decrypt locally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200400"/>
            <a:ext cx="17830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2736A"/>
                </a:solidFill>
                <a:latin typeface="Aptos"/>
              </a:rPr>
              <a:t>Recipient unwraps own envelope and decrypts in browser.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617720"/>
            <a:ext cx="10835640" cy="960120"/>
          </a:xfrm>
          <a:prstGeom prst="roundRect">
            <a:avLst>
              <a:gd name="adj" fmla="val 12000"/>
            </a:avLst>
          </a:prstGeom>
          <a:solidFill>
            <a:srgbClr val="EA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809744"/>
            <a:ext cx="1033272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3A31"/>
                </a:solidFill>
                <a:latin typeface="Aptos"/>
              </a:rPr>
              <a:t>Private keys remain client-side in plaintext. Password-encrypted backups use PBKDF2 (310,000 SHA-256 iterations) + AES-256-GCM.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5916168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2736A"/>
                </a:solidFill>
                <a:latin typeface="Aptos"/>
              </a:rPr>
              <a:t>Operational metadata (participants, timestamps, message type/size) is not hidden by payload encryption.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05  /  CHAT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73A31"/>
                </a:solidFill>
                <a:latin typeface="Aptos"/>
              </a:rPr>
              <a:t>Milestone 2 &amp; 5 ? conversations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C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686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36A"/>
                </a:solidFill>
                <a:latin typeface="Aptos"/>
              </a:rPr>
              <a:t>COMMONROOM  ?  MILESTONE IMPLEMENTATION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2736A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196596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212848"/>
            <a:ext cx="594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548A8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743200"/>
            <a:ext cx="16002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3A31"/>
                </a:solidFill>
                <a:latin typeface="Aptos"/>
              </a:rPr>
              <a:t>Find by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01568"/>
            <a:ext cx="16002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Search using an 8-character account ID.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33472" y="3182112"/>
            <a:ext cx="219456" cy="0"/>
          </a:xfrm>
          <a:prstGeom prst="line">
            <a:avLst/>
          </a:prstGeom>
          <a:ln w="25400">
            <a:solidFill>
              <a:srgbClr val="BDD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0" y="2011680"/>
            <a:ext cx="196596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212848"/>
            <a:ext cx="594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548A88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743200"/>
            <a:ext cx="16002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3A31"/>
                </a:solidFill>
                <a:latin typeface="Aptos"/>
              </a:rPr>
              <a:t>Request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401568"/>
            <a:ext cx="16002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Send and accept a direct-chat request.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19472" y="3182112"/>
            <a:ext cx="219456" cy="0"/>
          </a:xfrm>
          <a:prstGeom prst="line">
            <a:avLst/>
          </a:prstGeom>
          <a:ln w="25400">
            <a:solidFill>
              <a:srgbClr val="BDD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12080" y="2011680"/>
            <a:ext cx="196596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2212848"/>
            <a:ext cx="594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548A88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743200"/>
            <a:ext cx="16002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3A31"/>
                </a:solidFill>
                <a:latin typeface="Aptos"/>
              </a:rPr>
              <a:t>Open conversation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401568"/>
            <a:ext cx="16002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Conversation membership defines recipients.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05472" y="3182112"/>
            <a:ext cx="219456" cy="0"/>
          </a:xfrm>
          <a:prstGeom prst="line">
            <a:avLst/>
          </a:prstGeom>
          <a:ln w="25400">
            <a:solidFill>
              <a:srgbClr val="BDD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98079" y="2011680"/>
            <a:ext cx="196596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59" y="2212848"/>
            <a:ext cx="594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548A88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59" y="2743200"/>
            <a:ext cx="16002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3A31"/>
                </a:solidFill>
                <a:latin typeface="Aptos"/>
              </a:rPr>
              <a:t>Send securely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59" y="3401568"/>
            <a:ext cx="16002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Encrypt separately for all chat members.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491472" y="3182112"/>
            <a:ext cx="219456" cy="0"/>
          </a:xfrm>
          <a:prstGeom prst="line">
            <a:avLst/>
          </a:prstGeom>
          <a:ln w="25400">
            <a:solidFill>
              <a:srgbClr val="BDD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84080" y="2011680"/>
            <a:ext cx="196596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59" y="2212848"/>
            <a:ext cx="594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548A88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59" y="2743200"/>
            <a:ext cx="16002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3A31"/>
                </a:solidFill>
                <a:latin typeface="Aptos"/>
              </a:rPr>
              <a:t>Sync updates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59" y="3401568"/>
            <a:ext cx="16002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Poll for new messages and deletion events.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029200"/>
            <a:ext cx="5166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5029200"/>
            <a:ext cx="64008" cy="914400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5193792"/>
            <a:ext cx="47823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DDC76"/>
                </a:solidFill>
                <a:latin typeface="Aptos"/>
              </a:rPr>
              <a:t>ISOLATION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5468112"/>
            <a:ext cx="478231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A31"/>
                </a:solidFill>
                <a:latin typeface="Aptos"/>
              </a:rPr>
              <a:t>Message boundary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925312"/>
            <a:ext cx="4782312" cy="-548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Each record belongs to a conversation and recipient set.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5029200"/>
            <a:ext cx="5166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9632" y="5029200"/>
            <a:ext cx="64008" cy="914400"/>
          </a:xfrm>
          <a:prstGeom prst="rect">
            <a:avLst/>
          </a:prstGeom>
          <a:solidFill>
            <a:srgbClr val="E8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5193792"/>
            <a:ext cx="47823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8A15B"/>
                </a:solidFill>
                <a:latin typeface="Aptos"/>
              </a:rPr>
              <a:t>DELETE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468112"/>
            <a:ext cx="478231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A31"/>
                </a:solidFill>
                <a:latin typeface="Aptos"/>
              </a:rPr>
              <a:t>User 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925312"/>
            <a:ext cx="4782312" cy="-548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Sender can delete their own message for everyone.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06  / 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73A31"/>
                </a:solidFill>
                <a:latin typeface="Aptos"/>
              </a:rPr>
              <a:t>Milestone 4 ? backend &amp;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C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686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36A"/>
                </a:solidFill>
                <a:latin typeface="Aptos"/>
              </a:rPr>
              <a:t>COMMONROOM  ?  MILESTONE IMPLEMENTATION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2736A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48A88"/>
                </a:solidFill>
                <a:latin typeface="Aptos"/>
              </a:rPr>
              <a:t>ENCRYPTED MESSAGE RECORD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28800"/>
            <a:ext cx="27432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38528"/>
            <a:ext cx="2468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A31"/>
                </a:solidFill>
                <a:latin typeface="Aptos"/>
              </a:rPr>
              <a:t>conversation_id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38528"/>
            <a:ext cx="3063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Scopes the chat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523744"/>
            <a:ext cx="27432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633472"/>
            <a:ext cx="2468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A31"/>
                </a:solidFill>
                <a:latin typeface="Aptos"/>
              </a:rPr>
              <a:t>sender_id / sender_name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33472"/>
            <a:ext cx="3063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Identifies sender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218688"/>
            <a:ext cx="27432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328416"/>
            <a:ext cx="2468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A31"/>
                </a:solidFill>
                <a:latin typeface="Aptos"/>
              </a:rPr>
              <a:t>ciphertext + 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328416"/>
            <a:ext cx="3063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Encrypted payload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913632"/>
            <a:ext cx="27432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023360"/>
            <a:ext cx="2468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A31"/>
                </a:solidFill>
                <a:latin typeface="Aptos"/>
              </a:rPr>
              <a:t>envelopes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023360"/>
            <a:ext cx="3063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Per-recipient wrapped AES keys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608576"/>
            <a:ext cx="274320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4718304"/>
            <a:ext cx="2468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A31"/>
                </a:solidFill>
                <a:latin typeface="Aptos"/>
              </a:rPr>
              <a:t>kind / attachment_name / created_at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718304"/>
            <a:ext cx="3063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Operational metadata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536192"/>
            <a:ext cx="4160520" cy="1874519"/>
          </a:xfrm>
          <a:prstGeom prst="roundRect">
            <a:avLst>
              <a:gd name="adj" fmla="val 12000"/>
            </a:avLst>
          </a:prstGeom>
          <a:solidFill>
            <a:srgbClr val="EA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1792224"/>
            <a:ext cx="35661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"/>
              </a:rPr>
              <a:t>LOCAL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304288"/>
            <a:ext cx="35661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E3029"/>
                </a:solidFill>
                <a:latin typeface="Aptos"/>
              </a:rPr>
              <a:t>Flask + SQLite
HTTPS on 127.0.0.1:5000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3703320"/>
            <a:ext cx="4160520" cy="1874519"/>
          </a:xfrm>
          <a:prstGeom prst="roundRect">
            <a:avLst>
              <a:gd name="adj" fmla="val 12000"/>
            </a:avLst>
          </a:prstGeom>
          <a:solidFill>
            <a:srgbClr val="E7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3950208"/>
            <a:ext cx="35661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"/>
              </a:rPr>
              <a:t>HOSTED CONFIGURATION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480560"/>
            <a:ext cx="35661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E3029"/>
                </a:solidFill>
                <a:latin typeface="Aptos"/>
              </a:rPr>
              <a:t>GitHub Pages + Render API
Firebase Realtime 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870448"/>
            <a:ext cx="58521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2736A"/>
                </a:solidFill>
                <a:latin typeface="Aptos"/>
              </a:rPr>
              <a:t>Data is queried by conversation ID; server checks membership before returning messages.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07  /  SAFETY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73A31"/>
                </a:solidFill>
                <a:latin typeface="Aptos"/>
              </a:rPr>
              <a:t>Milestone 5 ? authorization &amp;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C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686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36A"/>
                </a:solidFill>
                <a:latin typeface="Aptos"/>
              </a:rPr>
              <a:t>COMMONROOM  ?  MILESTONE IMPLEMENTATION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2736A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47472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64008" cy="2057400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73351"/>
            <a:ext cx="30906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DDC76"/>
                </a:solidFill>
                <a:latin typeface="Aptos"/>
              </a:rPr>
              <a:t>ACCESS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47672"/>
            <a:ext cx="30906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A31"/>
                </a:solidFill>
                <a:latin typeface="Aptos"/>
              </a:rPr>
              <a:t>Member-only reads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04872"/>
            <a:ext cx="3090672" cy="10881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6A"/>
                </a:solidFill>
                <a:latin typeface="Aptos"/>
              </a:rPr>
              <a:t>Message API checks that the signed-in user belongs to the requested conversation.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508760"/>
            <a:ext cx="347472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508760"/>
            <a:ext cx="64008" cy="2057400"/>
          </a:xfrm>
          <a:prstGeom prst="rect">
            <a:avLst/>
          </a:prstGeom>
          <a:solidFill>
            <a:srgbClr val="548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73351"/>
            <a:ext cx="30906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48A88"/>
                </a:solidFill>
                <a:latin typeface="Aptos"/>
              </a:rPr>
              <a:t>KEY RECIPIENTS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947672"/>
            <a:ext cx="30906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A31"/>
                </a:solidFill>
                <a:latin typeface="Aptos"/>
              </a:rPr>
              <a:t>Recipient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04872"/>
            <a:ext cx="3090672" cy="10881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6A"/>
                </a:solidFill>
                <a:latin typeface="Aptos"/>
              </a:rPr>
              <a:t>Message send checks envelope recipient IDs against conversation members.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08760"/>
            <a:ext cx="347472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508760"/>
            <a:ext cx="64008" cy="2057400"/>
          </a:xfrm>
          <a:prstGeom prst="rect">
            <a:avLst/>
          </a:prstGeom>
          <a:solidFill>
            <a:srgbClr val="E8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673351"/>
            <a:ext cx="30906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8A15B"/>
                </a:solidFill>
                <a:latin typeface="Aptos"/>
              </a:rPr>
              <a:t>MESSAGE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1947672"/>
            <a:ext cx="30906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A31"/>
                </a:solidFill>
                <a:latin typeface="Aptos"/>
              </a:rPr>
              <a:t>Delete for everyone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404872"/>
            <a:ext cx="3090672" cy="10881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6A"/>
                </a:solidFill>
                <a:latin typeface="Aptos"/>
              </a:rPr>
              <a:t>Delete endpoint requires conversation membership and verifies the sender owns the message.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096512"/>
            <a:ext cx="10561320" cy="1078992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297680"/>
            <a:ext cx="996696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Admin encrypted-record viewer is separate and requires an allowlisted account. It shows ciphertext and metadata, not decrypted chat content.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513832"/>
            <a:ext cx="10424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62736A"/>
                </a:solidFill>
                <a:latin typeface="Aptos"/>
              </a:rPr>
              <a:t>No independent security audit is claimed. Restrict admin access and protect key-backup files.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08  / 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73A31"/>
                </a:solidFill>
                <a:latin typeface="Aptos"/>
              </a:rPr>
              <a:t>Implementation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C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686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36A"/>
                </a:solidFill>
                <a:latin typeface="Aptos"/>
              </a:rPr>
              <a:t>COMMONROOM  ?  MILESTONE IMPLEMENTATION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2736A"/>
                </a:solidFill>
                <a:latin typeface="Aptos"/>
              </a:rPr>
              <a:t>09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508760"/>
          <a:ext cx="11000232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6080760"/>
                <a:gridCol w="2770632"/>
              </a:tblGrid>
              <a:tr h="60350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CHECK</a:t>
                      </a:r>
                    </a:p>
                  </a:txBody>
                  <a:tcPr marL="109728" marR="73152" marT="54864" marB="36576" anchor="ctr">
                    <a:solidFill>
                      <a:srgbClr val="173A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PROCEDURE / EVIDENCE</a:t>
                      </a:r>
                    </a:p>
                  </a:txBody>
                  <a:tcPr marL="109728" marR="73152" marT="54864" marB="36576" anchor="ctr">
                    <a:solidFill>
                      <a:srgbClr val="173A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 marL="109728" marR="73152" marT="54864" marB="36576" anchor="ctr">
                    <a:solidFill>
                      <a:srgbClr val="173A3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Conversation isolation</a:t>
                      </a:r>
                    </a:p>
                  </a:txBody>
                  <a:tcPr marL="109728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Two direct conversations return only records scoped to the requested conversation.</a:t>
                      </a:r>
                    </a:p>
                  </a:txBody>
                  <a:tcPr marL="109728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PASS ? local API regression</a:t>
                      </a:r>
                    </a:p>
                  </a:txBody>
                  <a:tcPr marL="109728" marR="73152" marT="54864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Member authorization</a:t>
                      </a:r>
                    </a:p>
                  </a:txBody>
                  <a:tcPr marL="109728" marR="73152" marT="54864" marB="36576" anchor="ctr">
                    <a:solidFill>
                      <a:srgbClr val="EAF1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Non-member request for another chat receives not-found response.</a:t>
                      </a:r>
                    </a:p>
                  </a:txBody>
                  <a:tcPr marL="109728" marR="73152" marT="54864" marB="36576" anchor="ctr">
                    <a:solidFill>
                      <a:srgbClr val="EAF1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PASS ? local API regression</a:t>
                      </a:r>
                    </a:p>
                  </a:txBody>
                  <a:tcPr marL="109728" marR="73152" marT="54864" marB="36576" anchor="ctr">
                    <a:solidFill>
                      <a:srgbClr val="EAF1E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Recipient envelopes</a:t>
                      </a:r>
                    </a:p>
                  </a:txBody>
                  <a:tcPr marL="109728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Records missing the requesting member envelope are skipped; cursor advances.</a:t>
                      </a:r>
                    </a:p>
                  </a:txBody>
                  <a:tcPr marL="109728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PASS ? local API regression</a:t>
                      </a:r>
                    </a:p>
                  </a:txBody>
                  <a:tcPr marL="109728" marR="73152" marT="54864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Delete authorization</a:t>
                      </a:r>
                    </a:p>
                  </a:txBody>
                  <a:tcPr marL="109728" marR="73152" marT="54864" marB="36576" anchor="ctr">
                    <a:solidFill>
                      <a:srgbClr val="EAF1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Non-sender denied; sender deletion removes record and adds event.</a:t>
                      </a:r>
                    </a:p>
                  </a:txBody>
                  <a:tcPr marL="109728" marR="73152" marT="54864" marB="36576" anchor="ctr">
                    <a:solidFill>
                      <a:srgbClr val="EAF1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PASS ? local API regression</a:t>
                      </a:r>
                    </a:p>
                  </a:txBody>
                  <a:tcPr marL="109728" marR="73152" marT="54864" marB="36576" anchor="ctr">
                    <a:solidFill>
                      <a:srgbClr val="EAF1E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Frontend switching</a:t>
                      </a:r>
                    </a:p>
                  </a:txBody>
                  <a:tcPr marL="109728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Version guard blocks stale responses after switching chats.</a:t>
                      </a:r>
                    </a:p>
                  </a:txBody>
                  <a:tcPr marL="109728" marR="73152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SOURCE CHECK ? browser test</a:t>
                      </a:r>
                    </a:p>
                  </a:txBody>
                  <a:tcPr marL="109728" marR="73152" marT="54864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Hosted acceptance</a:t>
                      </a:r>
                    </a:p>
                  </a:txBody>
                  <a:tcPr marL="109728" marR="73152" marT="54864" marB="36576" anchor="ctr">
                    <a:solidFill>
                      <a:srgbClr val="EAF1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Multiple real accounts, browser profiles, and Render/Firebase deployment.</a:t>
                      </a:r>
                    </a:p>
                  </a:txBody>
                  <a:tcPr marL="109728" marR="73152" marT="54864" marB="36576" anchor="ctr">
                    <a:solidFill>
                      <a:srgbClr val="EAF1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REQUIRES LIVE TEST</a:t>
                      </a:r>
                    </a:p>
                  </a:txBody>
                  <a:tcPr marL="109728" marR="73152" marT="54864" marB="36576" anchor="ctr">
                    <a:solidFill>
                      <a:srgbClr val="EAF1E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43600"/>
            <a:ext cx="10881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2736A"/>
                </a:solidFill>
                <a:latin typeface="Aptos"/>
              </a:rPr>
              <a:t>Local focused tests do not establish full hosted reliability or independent cryptographic assurance.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09  /  REVIEW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73A31"/>
                </a:solidFill>
                <a:latin typeface="Aptos"/>
              </a:rPr>
              <a:t>Milestone status &amp; demo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C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686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36A"/>
                </a:solidFill>
                <a:latin typeface="Aptos"/>
              </a:rPr>
              <a:t>COMMONROOM  ?  MILESTONE IMPLEMENTATION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2736A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44752"/>
            <a:ext cx="51663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44752"/>
            <a:ext cx="64008" cy="1828800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09344"/>
            <a:ext cx="47823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DDC76"/>
                </a:solidFill>
                <a:latin typeface="Aptos"/>
              </a:rPr>
              <a:t>CURRENT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83664"/>
            <a:ext cx="478231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A31"/>
                </a:solidFill>
                <a:latin typeface="Aptos"/>
              </a:rPr>
              <a:t>Implemented in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40864"/>
            <a:ext cx="4782312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6A"/>
                </a:solidFill>
                <a:latin typeface="Aptos"/>
              </a:rPr>
              <a:t>Core browser encryption, Flask APIs, conversation membership, SQLite/Firebase paths, chat UI, deletion, and admin viewer.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44752"/>
            <a:ext cx="51663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44752"/>
            <a:ext cx="64008" cy="1828800"/>
          </a:xfrm>
          <a:prstGeom prst="rect">
            <a:avLst/>
          </a:prstGeom>
          <a:solidFill>
            <a:srgbClr val="548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609344"/>
            <a:ext cx="47823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48A88"/>
                </a:solidFill>
                <a:latin typeface="Aptos"/>
              </a:rPr>
              <a:t>DEMO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883664"/>
            <a:ext cx="478231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A31"/>
                </a:solidFill>
                <a:latin typeface="Aptos"/>
              </a:rPr>
              <a:t>Verify in live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340864"/>
            <a:ext cx="4782312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6A"/>
                </a:solidFill>
                <a:latin typeface="Aptos"/>
              </a:rPr>
              <a:t>Sign in with two test accounts; create separate chats; compare message lists; confirm the recipient cannot read another chat.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794760"/>
            <a:ext cx="5029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"/>
              </a:rPr>
              <a:t>DEMO 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51960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4251960"/>
            <a:ext cx="4754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E3029"/>
                </a:solidFill>
                <a:latin typeface="Aptos"/>
              </a:rPr>
              <a:t>Sign in / register test accounts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90288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590288"/>
            <a:ext cx="4754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E3029"/>
                </a:solidFill>
                <a:latin typeface="Aptos"/>
              </a:rPr>
              <a:t>Create two separate direct chats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28616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4928616"/>
            <a:ext cx="4754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E3029"/>
                </a:solidFill>
                <a:latin typeface="Aptos"/>
              </a:rPr>
              <a:t>Send unique text in each chat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66944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5266944"/>
            <a:ext cx="4754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E3029"/>
                </a:solidFill>
                <a:latin typeface="Aptos"/>
              </a:rPr>
              <a:t>Switch chats and verify isolation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05272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5605272"/>
            <a:ext cx="4754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E3029"/>
                </a:solidFill>
                <a:latin typeface="Aptos"/>
              </a:rPr>
              <a:t>Check admin view / delete behavior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886200"/>
            <a:ext cx="4709160" cy="1737360"/>
          </a:xfrm>
          <a:prstGeom prst="roundRect">
            <a:avLst>
              <a:gd name="adj" fmla="val 12000"/>
            </a:avLst>
          </a:prstGeom>
          <a:solidFill>
            <a:srgbClr val="F8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4160520"/>
            <a:ext cx="4206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A15B"/>
                </a:solidFill>
                <a:latin typeface="Aptos"/>
              </a:rPr>
              <a:t>IMPORTANT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4590288"/>
            <a:ext cx="416052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E3029"/>
                </a:solidFill>
                <a:latin typeface="Aptos"/>
              </a:rPr>
              <a:t>?Couldn?t decrypt? means the client lacks the matching private key or envelope. Old messages need the original matching key/backup; creating a new key does not restore them.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10  / 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73A31"/>
                </a:solidFill>
                <a:latin typeface="Aptos"/>
              </a:rPr>
              <a:t>Next milestone ? hardening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C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8686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36A"/>
                </a:solidFill>
                <a:latin typeface="Aptos"/>
              </a:rPr>
              <a:t>COMMONROOM  ?  MILESTONE IMPLEMENTATION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2736A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493776" cy="438912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99616"/>
            <a:ext cx="493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BDDC76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1408176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"/>
              </a:rPr>
              <a:t>Automated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399032"/>
            <a:ext cx="7406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6A"/>
                </a:solidFill>
                <a:latin typeface="Aptos"/>
              </a:rPr>
              <a:t>Add repeatable browser + API suites for encryption, recovery, isolation, and deletion.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58568"/>
            <a:ext cx="493776" cy="438912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40864"/>
            <a:ext cx="493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BDDC76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249424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"/>
              </a:rPr>
              <a:t>Deployment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240280"/>
            <a:ext cx="7406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6A"/>
                </a:solidFill>
                <a:latin typeface="Aptos"/>
              </a:rPr>
              <a:t>Run hosted acceptance with multiple real accounts and verify Firebase persistence after redeploy.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99816"/>
            <a:ext cx="493776" cy="438912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82112"/>
            <a:ext cx="493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BDDC76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090672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"/>
              </a:rPr>
              <a:t>Key lifecycle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081528"/>
            <a:ext cx="7406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6A"/>
                </a:solidFill>
                <a:latin typeface="Aptos"/>
              </a:rPr>
              <a:t>Document device migration, backup verification, and safe key rotation for historical messages.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41064"/>
            <a:ext cx="493776" cy="438912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493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BDDC76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3931920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"/>
              </a:rPr>
              <a:t>Security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922776"/>
            <a:ext cx="7406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6A"/>
                </a:solidFill>
                <a:latin typeface="Aptos"/>
              </a:rPr>
              <a:t>Review cryptographic construction, session controls, abuse limits, and admin exposure.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82312"/>
            <a:ext cx="493776" cy="438912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64608"/>
            <a:ext cx="493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BDDC76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4773168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"/>
              </a:rPr>
              <a:t>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764024"/>
            <a:ext cx="7406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6A"/>
                </a:solidFill>
                <a:latin typeface="Aptos"/>
              </a:rPr>
              <a:t>Document recovery/backup process and monitor API/storage failures.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DDC76"/>
                </a:solidFill>
                <a:latin typeface="Aptos"/>
              </a:rPr>
              <a:t>MILESTONE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51560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Private by design.
Conversation-aware by implementation.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54680"/>
            <a:ext cx="98755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DCE9DF"/>
                </a:solidFill>
                <a:latin typeface="Aptos"/>
              </a:rPr>
              <a:t>Commonroom combines client-side hybrid encryption with server-side identity, membership checks, and persistent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343400"/>
            <a:ext cx="10424160" cy="13716"/>
          </a:xfrm>
          <a:prstGeom prst="rect">
            <a:avLst/>
          </a:prstGeom>
          <a:solidFill>
            <a:srgbClr val="527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7720"/>
            <a:ext cx="2926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DDC76"/>
                </a:solidFill>
                <a:latin typeface="Aptos"/>
              </a:rPr>
              <a:t>NEXT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0"/>
            <a:ext cx="960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Complete the live two-account isolation demo, then proceed to automated testing and security hardening.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63640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5C9BE"/>
                </a:solidFill>
                <a:latin typeface="Aptos"/>
              </a:rPr>
              <a:t>Suraj Dohar  ?  Commonroom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Commonroom Milestone Implementation Presentation</dc:title>
  <dc:subject>Project milestone implementation review</dc:subject>
  <dc:creator>Suraj Dohar</dc:creator>
  <cp:keywords>Commonroom, E2EE, milestones, implementation, chat system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