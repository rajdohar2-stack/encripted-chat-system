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960120"/>
            <a:ext cx="1965960" cy="1965960"/>
          </a:xfrm>
          <a:prstGeom prst="ellipse">
            <a:avLst/>
          </a:prstGeom>
          <a:noFill/>
          <a:ln w="15240">
            <a:solidFill>
              <a:srgbClr val="355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08592" y="1527048"/>
            <a:ext cx="1965960" cy="1965960"/>
          </a:xfrm>
          <a:prstGeom prst="ellipse">
            <a:avLst/>
          </a:prstGeom>
          <a:noFill/>
          <a:ln w="15240">
            <a:solidFill>
              <a:srgbClr val="426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93808" y="2103120"/>
            <a:ext cx="1965960" cy="1965960"/>
          </a:xfrm>
          <a:prstGeom prst="ellipse">
            <a:avLst/>
          </a:prstGeom>
          <a:noFill/>
          <a:ln w="15240">
            <a:solidFill>
              <a:srgbClr val="52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1554480"/>
            <a:ext cx="128016" cy="128016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2651760"/>
            <a:ext cx="128016" cy="128016"/>
          </a:xfrm>
          <a:prstGeom prst="ellipse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3108960"/>
            <a:ext cx="128016" cy="128016"/>
          </a:xfrm>
          <a:prstGeom prst="ellipse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44200" y="4251960"/>
            <a:ext cx="128016" cy="128016"/>
          </a:xfrm>
          <a:prstGeom prst="ellipse">
            <a:avLst/>
          </a:prstGeom>
          <a:solidFill>
            <a:srgbClr val="6D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DDC76"/>
                </a:solidFill>
                <a:latin typeface="Aptos"/>
              </a:rPr>
              <a:t>PROJECT MILESTONE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71600"/>
            <a:ext cx="7772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EFA"/>
                </a:solidFill>
                <a:latin typeface="Aptos Display"/>
              </a:rPr>
              <a:t>Commonroom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681228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DCE7DF"/>
                </a:solidFill>
                <a:latin typeface="Aptos Display"/>
              </a:rPr>
              <a:t>Design and methodology of a secure multi-user messaging prototype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713232" cy="54864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9C9BF"/>
                </a:solidFill>
                <a:latin typeface="Aptos"/>
              </a:rPr>
              <a:t>Browser-side encryption  ·  Chat IDs  ·  Group messaging  ·  Local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7667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EFA"/>
                </a:solidFill>
                <a:latin typeface="Aptos"/>
              </a:rPr>
              <a:t>Student: ____________________    Course: 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6072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EFA"/>
                </a:solidFill>
                <a:latin typeface="Aptos"/>
              </a:rPr>
              <a:t>College: _____________________    Supervisor: ________________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453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9BF"/>
                </a:solidFill>
                <a:latin typeface="Aptos"/>
              </a:rPr>
              <a:t>15 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9C9BF"/>
                </a:solidFill>
                <a:latin typeface="DM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01 / PROJECT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Problem, aim and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3A31"/>
                </a:solidFill>
                <a:latin typeface="Aptos Display"/>
              </a:rPr>
              <a:t>People need a simple way to find one another by ID and exchange text or images without sending readable message content to the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1907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Aptos"/>
              </a:rPr>
              <a:t>PROJECT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4983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73A31"/>
                </a:solidFill>
                <a:latin typeface="Aptos Display"/>
              </a:rPr>
              <a:t>Build a usable chat prototype that encrypts content in the browser and supports a separate administrator view of stored ciphertext.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2615184" cy="1664208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59436" cy="166420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867911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01 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306824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Create accounts with shareable user IDs.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3703320"/>
            <a:ext cx="2615184" cy="1664208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3703320"/>
            <a:ext cx="59436" cy="1664208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3867911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02 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4306824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Support direct and group conversations, text and images.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703320"/>
            <a:ext cx="2615184" cy="1664208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3703320"/>
            <a:ext cx="59436" cy="1664208"/>
          </a:xfrm>
          <a:prstGeom prst="rect">
            <a:avLst/>
          </a:prstGeom>
          <a:solidFill>
            <a:srgbClr val="6D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3867911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03  Confidentiality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4306824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Encrypt payloads before upload; keep private keys in the browser.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3703320"/>
            <a:ext cx="2615184" cy="1664208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4544" y="3703320"/>
            <a:ext cx="59436" cy="1664208"/>
          </a:xfrm>
          <a:prstGeom prst="rect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3867911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04  Administration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306824"/>
            <a:ext cx="22311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Restrict database-wide ciphertext inspection to the admin key.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064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MILESTONE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76986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Functional local-network prototype and documented security boundaries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02 /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Scope and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4D40"/>
                </a:solidFill>
                <a:latin typeface="Aptos"/>
              </a:rPr>
              <a:t>IN SCOPE FOR THIS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97A57"/>
                </a:solidFill>
                <a:latin typeface="Aptos"/>
              </a:rPr>
              <a:t>NEXT MILESTONE / OUT OF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48840"/>
            <a:ext cx="109728" cy="43891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48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Accounts and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148840"/>
            <a:ext cx="29718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Username/password registration and unique chat 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62072"/>
            <a:ext cx="109728" cy="43891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8620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862072"/>
            <a:ext cx="29718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Direct and group chat; text and images up to 8 MiB.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575304"/>
            <a:ext cx="109728" cy="43891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753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Encryption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575304"/>
            <a:ext cx="29718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AES-GCM content encryption and RSA-OAEP key envelopes.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288536"/>
            <a:ext cx="109728" cy="43891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885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Local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288536"/>
            <a:ext cx="29718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Flask HTTPS server reachable from the same Wi-Fi.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001768"/>
            <a:ext cx="109728" cy="43891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0017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Admin 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5001768"/>
            <a:ext cx="29718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Separate admin-key gated ciphertext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148840"/>
            <a:ext cx="109728" cy="43891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21488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Shared cloud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48840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Account and membership data are still local to the host PC.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862072"/>
            <a:ext cx="109728" cy="43891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28620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Public internet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862072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No production hosting, domain, or external access controls.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575304"/>
            <a:ext cx="109728" cy="43891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35753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Key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575304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No fingerprint confirmation or key-change warning yet.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288536"/>
            <a:ext cx="109728" cy="43891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42885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Operational hardening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288536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No rate limiting, formal audit, or automated backup/restore.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5001768"/>
            <a:ext cx="109728" cy="43891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50017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Firebase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001768"/>
            <a:ext cx="3063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Optional message storage path; requires project credentials and setup.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870448"/>
            <a:ext cx="10881360" cy="411480"/>
          </a:xfrm>
          <a:prstGeom prst="roundRect">
            <a:avLst>
              <a:gd name="adj" fmla="val 8000"/>
            </a:avLst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96188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A31"/>
                </a:solidFill>
                <a:latin typeface="Aptos"/>
              </a:rPr>
              <a:t>Deployment note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943600"/>
            <a:ext cx="9052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3A31"/>
                </a:solidFill>
                <a:latin typeface="Aptos"/>
              </a:rPr>
              <a:t>Same-Wi-Fi sharing works while the host PC and API remain running; it is not a public cloud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03 /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Development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1288" y="2743200"/>
            <a:ext cx="1783080" cy="0"/>
          </a:xfrm>
          <a:prstGeom prst="line">
            <a:avLst/>
          </a:prstGeom>
          <a:ln w="2540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58368" y="2432304"/>
            <a:ext cx="621792" cy="62179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12463"/>
            <a:ext cx="1920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Define user roles, content types, privacy goals and LAN constraints.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983480"/>
            <a:ext cx="1133856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015484"/>
            <a:ext cx="1042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COMPLETE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47287" y="2743200"/>
            <a:ext cx="1783081" cy="0"/>
          </a:xfrm>
          <a:prstGeom prst="line">
            <a:avLst/>
          </a:prstGeom>
          <a:ln w="2540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944368" y="2432304"/>
            <a:ext cx="621792" cy="621792"/>
          </a:xfrm>
          <a:prstGeom prst="ellipse">
            <a:avLst/>
          </a:prstGeom>
          <a:solidFill>
            <a:srgbClr val="6D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25968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31012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712463"/>
            <a:ext cx="1920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Separate browser UI, Flask API, identity store and message store.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4983480"/>
            <a:ext cx="1133856" cy="256032"/>
          </a:xfrm>
          <a:prstGeom prst="roundRect">
            <a:avLst>
              <a:gd name="adj" fmla="val 8000"/>
            </a:avLst>
          </a:prstGeom>
          <a:solidFill>
            <a:srgbClr val="6D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0087" y="5015484"/>
            <a:ext cx="1042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33288" y="2743200"/>
            <a:ext cx="1783079" cy="0"/>
          </a:xfrm>
          <a:prstGeom prst="line">
            <a:avLst/>
          </a:prstGeom>
          <a:ln w="2540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230368" y="2432304"/>
            <a:ext cx="621792" cy="621792"/>
          </a:xfrm>
          <a:prstGeom prst="ellipse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25968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31012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Security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712463"/>
            <a:ext cx="1920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Use hybrid encryption and password-protected private-key backup.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4983480"/>
            <a:ext cx="1463039" cy="256032"/>
          </a:xfrm>
          <a:prstGeom prst="roundRect">
            <a:avLst>
              <a:gd name="adj" fmla="val 8000"/>
            </a:avLst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6088" y="5015484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IMPLEMENTED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19288" y="2743200"/>
            <a:ext cx="1783080" cy="0"/>
          </a:xfrm>
          <a:prstGeom prst="line">
            <a:avLst/>
          </a:prstGeom>
          <a:ln w="25400">
            <a:solidFill>
              <a:srgbClr val="D8E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516368" y="2432304"/>
            <a:ext cx="621792" cy="621792"/>
          </a:xfrm>
          <a:prstGeom prst="ellipse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8" y="25968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31012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712463"/>
            <a:ext cx="1920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Connect account, conversation, message and admin workflows.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16368" y="4983480"/>
            <a:ext cx="1463039" cy="25603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2088" y="5015484"/>
            <a:ext cx="137159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IMPLEMENTED</a:t>
            </a:r>
          </a:p>
        </p:txBody>
      </p:sp>
      <p:sp>
        <p:nvSpPr>
          <p:cNvPr id="35" name="Oval 34"/>
          <p:cNvSpPr/>
          <p:nvPr/>
        </p:nvSpPr>
        <p:spPr>
          <a:xfrm>
            <a:off x="9802368" y="2432304"/>
            <a:ext cx="621792" cy="62179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02368" y="25968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331012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3712463"/>
            <a:ext cx="1920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Run focused API, crypto, migration, authorization and TLS checks.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2368" y="4983480"/>
            <a:ext cx="1024128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48088" y="5015484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CHECKED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650992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8064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ITERATIVE 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769864"/>
            <a:ext cx="8915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EFA"/>
                </a:solidFill>
                <a:latin typeface="Aptos"/>
              </a:rPr>
              <a:t>Build a thin slice  →  test behavior  →  fix observed defect  →  validate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04 /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11680"/>
            <a:ext cx="59436" cy="118872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CLIENT  / 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15184"/>
            <a:ext cx="2404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Chat UI • Web Crypto • key vault • admin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01168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2011680"/>
            <a:ext cx="59436" cy="1188720"/>
          </a:xfrm>
          <a:prstGeom prst="rect">
            <a:avLst/>
          </a:prstGeom>
          <a:solidFill>
            <a:srgbClr val="6D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2176272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FLASK API  / 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615184"/>
            <a:ext cx="2404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Authentication • conversation rules • encrypted payload 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572768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572768"/>
            <a:ext cx="59436" cy="1188720"/>
          </a:xfrm>
          <a:prstGeom prst="rect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8" y="1737360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ACCOUNT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176272"/>
            <a:ext cx="2404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SQLite: users • public keys • sessions • memberships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880360"/>
            <a:ext cx="2788920" cy="11887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2880360"/>
            <a:ext cx="59436" cy="1188720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3044952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MESSAGE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3483864"/>
            <a:ext cx="24048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Separate SQLite file: ciphertext • IV • envelopes • metadata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0" y="2487168"/>
            <a:ext cx="1261872" cy="0"/>
          </a:xfrm>
          <a:prstGeom prst="line">
            <a:avLst/>
          </a:prstGeom>
          <a:ln w="2286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30168" y="2240280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HTTPS / JSON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498079" y="2057400"/>
            <a:ext cx="1261873" cy="301752"/>
          </a:xfrm>
          <a:prstGeom prst="line">
            <a:avLst/>
          </a:prstGeom>
          <a:ln w="2286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44968" y="196138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identity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79" y="2788920"/>
            <a:ext cx="1261873" cy="640080"/>
          </a:xfrm>
          <a:prstGeom prst="line">
            <a:avLst/>
          </a:prstGeom>
          <a:ln w="2286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44968" y="286207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ciphertext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1605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160520"/>
            <a:ext cx="59436" cy="11430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325112"/>
            <a:ext cx="47365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RECIPIENT 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4764024"/>
            <a:ext cx="473659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Same Wi-Fi; trust the local CA once; import encrypted key backup to decrypt prior messages.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160520"/>
            <a:ext cx="5440680" cy="11430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160520"/>
            <a:ext cx="59436" cy="1143000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325112"/>
            <a:ext cx="50566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ADMIN RECORDS VIEWER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764024"/>
            <a:ext cx="50566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Separate route + admin key; database-wide ciphertext inspection only; no plaintext decryption.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1500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97A57"/>
                </a:solidFill>
                <a:latin typeface="Aptos"/>
              </a:rPr>
              <a:t>OPTIONAL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660136"/>
            <a:ext cx="9966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Firebase Realtime Database can replace local message storage after credentials are configured; account and membership data remain local in this prototype.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05 / 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Message encryption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48256" cy="1152144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270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048256" cy="100584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084831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 Display"/>
              </a:rPr>
              <a:t>SENDER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45059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Plaintext / image bytes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404872"/>
            <a:ext cx="256032" cy="0"/>
          </a:xfrm>
          <a:prstGeom prst="line">
            <a:avLst/>
          </a:prstGeom>
          <a:ln w="1905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62072" y="1828800"/>
            <a:ext cx="2048256" cy="1152144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270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2072" y="1828800"/>
            <a:ext cx="2048256" cy="100584"/>
          </a:xfrm>
          <a:prstGeom prst="rect">
            <a:avLst/>
          </a:prstGeom>
          <a:solidFill>
            <a:srgbClr val="6D9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084831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 Display"/>
              </a:rPr>
              <a:t>AES-256-GCM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45059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Fresh content key + random IV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9472" y="2404872"/>
            <a:ext cx="256032" cy="0"/>
          </a:xfrm>
          <a:prstGeom prst="line">
            <a:avLst/>
          </a:prstGeom>
          <a:ln w="1905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21224" y="1828800"/>
            <a:ext cx="2048256" cy="1152144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270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1224" y="1828800"/>
            <a:ext cx="2048256" cy="100584"/>
          </a:xfrm>
          <a:prstGeom prst="rect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084831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 Display"/>
              </a:rPr>
              <a:t>RSA-OAEP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5059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Wrap AES key to each member public key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78624" y="2404872"/>
            <a:ext cx="256032" cy="0"/>
          </a:xfrm>
          <a:prstGeom prst="line">
            <a:avLst/>
          </a:prstGeom>
          <a:ln w="1905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80376" y="1828800"/>
            <a:ext cx="2048256" cy="1152144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270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80376" y="1828800"/>
            <a:ext cx="2048256" cy="100584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08392" y="2084831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 Display"/>
              </a:rPr>
              <a:t>SERVER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245059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Ciphertext + IV + envelopes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37776" y="2404872"/>
            <a:ext cx="256032" cy="0"/>
          </a:xfrm>
          <a:prstGeom prst="line">
            <a:avLst/>
          </a:prstGeom>
          <a:ln w="19050">
            <a:solidFill>
              <a:srgbClr val="244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39528" y="1828800"/>
            <a:ext cx="2048256" cy="1152144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270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1828800"/>
            <a:ext cx="2048256" cy="100584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67544" y="2084831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 Display"/>
              </a:rPr>
              <a:t>RECIPIENT BROWSER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4" y="2450592"/>
            <a:ext cx="17922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Unwrap key; decrypt locally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657600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3657600"/>
            <a:ext cx="59436" cy="141732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22191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PRIVATE KEY VAULT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4261104"/>
            <a:ext cx="490118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Private RSA key is exported as JWK and encrypted locally with AES-GCM. A password-derived wrapping key uses PBKDF2-SHA-256 (310,000 iterations).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8" y="3657600"/>
            <a:ext cx="5285232" cy="141732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8" y="3657600"/>
            <a:ext cx="59436" cy="1417320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6" y="3822191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KEY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4261104"/>
            <a:ext cx="4901184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A new AES key is generated per message. RSA-OAEP-SHA-256 encrypts that key for each recipient. Server stores envelopes, not the private key.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440680"/>
            <a:ext cx="10863072" cy="585216"/>
          </a:xfrm>
          <a:prstGeom prst="roundRect">
            <a:avLst>
              <a:gd name="adj" fmla="val 8000"/>
            </a:avLst>
          </a:prstGeom>
          <a:solidFill>
            <a:srgbClr val="E8F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62356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4D40"/>
                </a:solidFill>
                <a:latin typeface="Aptos"/>
              </a:rPr>
              <a:t>CRYPTOGRAPHIC BOUNDARY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88920" y="5577840"/>
            <a:ext cx="8321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TLS protects transport; end-to-end encryption protects message content from server-side plaintext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06 / ACCESS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Data separation and administrator controls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9436" cy="1828800"/>
          </a:xfrm>
          <a:prstGeom prst="rect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chat.db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32304"/>
            <a:ext cx="304495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Accounts, password hashes, public keys, sessions, chats and membership.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59436" cy="1828800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9339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encrypted_messages.db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32304"/>
            <a:ext cx="304495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Dedicated local message store. Existing ciphertext migrated at startup.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8288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828800"/>
            <a:ext cx="59436" cy="18288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99339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database.html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32304"/>
            <a:ext cx="304495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86D"/>
                </a:solidFill>
                <a:latin typeface="Aptos"/>
              </a:rPr>
              <a:t>Separate admin login and protected API routes. Displays ciphertext / metadata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8736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4786D"/>
                </a:solidFill>
                <a:latin typeface="Aptos"/>
              </a:rPr>
              <a:t>WHO CAN SEE WHAT?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480560"/>
            <a:ext cx="2926080" cy="347472"/>
          </a:xfrm>
          <a:prstGeom prst="rect">
            <a:avLst/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572000"/>
            <a:ext cx="2706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EFA"/>
                </a:solidFill>
                <a:latin typeface="Aptos"/>
              </a:rPr>
              <a:t>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4480560"/>
            <a:ext cx="3703320" cy="347472"/>
          </a:xfrm>
          <a:prstGeom prst="rect">
            <a:avLst/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4572000"/>
            <a:ext cx="3483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EFA"/>
                </a:solidFill>
                <a:latin typeface="Aptos"/>
              </a:rPr>
              <a:t>CHAT PAYLOAD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87768" y="4480560"/>
            <a:ext cx="3703320" cy="347472"/>
          </a:xfrm>
          <a:prstGeom prst="rect">
            <a:avLst/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4572000"/>
            <a:ext cx="34838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EFA"/>
                </a:solidFill>
                <a:latin typeface="Aptos"/>
              </a:rPr>
              <a:t>DATABASE-WIDE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828032"/>
            <a:ext cx="2926080" cy="457200"/>
          </a:xfrm>
          <a:prstGeom prst="rect">
            <a:avLst/>
          </a:prstGeom>
          <a:solidFill>
            <a:srgbClr val="FFFEFA"/>
          </a:solidFill>
          <a:ln w="635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956048"/>
            <a:ext cx="27066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A31"/>
                </a:solidFill>
                <a:latin typeface="Aptos"/>
              </a:rPr>
              <a:t>Participant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84448" y="4828032"/>
            <a:ext cx="3703320" cy="457200"/>
          </a:xfrm>
          <a:prstGeom prst="rect">
            <a:avLst/>
          </a:prstGeom>
          <a:solidFill>
            <a:srgbClr val="FFFEFA"/>
          </a:solidFill>
          <a:ln w="635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4176" y="4956048"/>
            <a:ext cx="3483863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3A31"/>
                </a:solidFill>
                <a:latin typeface="Aptos"/>
              </a:rPr>
              <a:t>Receives ciphertext and own key envelope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87768" y="4828032"/>
            <a:ext cx="3703320" cy="457200"/>
          </a:xfrm>
          <a:prstGeom prst="rect">
            <a:avLst/>
          </a:prstGeom>
          <a:solidFill>
            <a:srgbClr val="FFFEFA"/>
          </a:solidFill>
          <a:ln w="635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7496" y="4956048"/>
            <a:ext cx="3483863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3A31"/>
                </a:solidFill>
                <a:latin typeface="Aptos"/>
              </a:rPr>
              <a:t>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285232"/>
            <a:ext cx="2926080" cy="457200"/>
          </a:xfrm>
          <a:prstGeom prst="rect">
            <a:avLst/>
          </a:prstGeom>
          <a:solidFill>
            <a:srgbClr val="F0F3EB"/>
          </a:solidFill>
          <a:ln w="635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5413248"/>
            <a:ext cx="27066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3A31"/>
                </a:solidFill>
                <a:latin typeface="Aptos"/>
              </a:rPr>
              <a:t>Administrator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4448" y="5285232"/>
            <a:ext cx="3703320" cy="457200"/>
          </a:xfrm>
          <a:prstGeom prst="rect">
            <a:avLst/>
          </a:prstGeom>
          <a:solidFill>
            <a:srgbClr val="F0F3EB"/>
          </a:solidFill>
          <a:ln w="635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5413248"/>
            <a:ext cx="3483863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3A31"/>
                </a:solidFill>
                <a:latin typeface="Aptos"/>
              </a:rPr>
              <a:t>No plaintext key by default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7768" y="5285232"/>
            <a:ext cx="3703320" cy="457200"/>
          </a:xfrm>
          <a:prstGeom prst="rect">
            <a:avLst/>
          </a:prstGeom>
          <a:solidFill>
            <a:srgbClr val="F0F3EB"/>
          </a:solidFill>
          <a:ln w="635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97496" y="5413248"/>
            <a:ext cx="3483863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73A31"/>
                </a:solidFill>
                <a:latin typeface="Aptos"/>
              </a:rPr>
              <a:t>Yes: encrypted records + metadata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89788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4543B"/>
                </a:solidFill>
                <a:latin typeface="Aptos"/>
              </a:rPr>
              <a:t>Important: participants must receive ciphertext to decrypt their own conversations. The admin viewer is a separate database-wide interface; it does not decrypt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07 /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Milestone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4846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762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73152" cy="484632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92807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Messaging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901952"/>
            <a:ext cx="6812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Accounts, IDs, direct/group chat, text + image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892807"/>
            <a:ext cx="694944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1924812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04872"/>
            <a:ext cx="10881360" cy="4846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762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04872"/>
            <a:ext cx="73152" cy="484632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514600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23744"/>
            <a:ext cx="6812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RSA-OAEP key wrapping + AES-256-GCM content encryption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2514600"/>
            <a:ext cx="694944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2546604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26664"/>
            <a:ext cx="10881360" cy="4846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762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026664"/>
            <a:ext cx="73152" cy="484632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136392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145536"/>
            <a:ext cx="6812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Separate SQLite account and encrypted-message databases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3136392"/>
            <a:ext cx="694944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3168396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DONE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48456"/>
            <a:ext cx="10881360" cy="4846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762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648456"/>
            <a:ext cx="73152" cy="484632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758184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Admin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767328"/>
            <a:ext cx="6812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Distinct admin key, protected list/read APIs, separate viewer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20" y="3758184"/>
            <a:ext cx="694944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790188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70248"/>
            <a:ext cx="10881360" cy="4846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762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270248"/>
            <a:ext cx="73152" cy="484632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379976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Local 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4389120"/>
            <a:ext cx="6812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HTTPS Flask listener; generated local CA/cert for LAN IP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32720" y="4379976"/>
            <a:ext cx="694944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4411980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81360" cy="484632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762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892040"/>
            <a:ext cx="73152" cy="48463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5001768"/>
            <a:ext cx="208483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Cloud accounts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5010912"/>
            <a:ext cx="6812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Shared accounts/membership hosted for independent devices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20" y="5001768"/>
            <a:ext cx="694944" cy="256032"/>
          </a:xfrm>
          <a:prstGeom prst="roundRect">
            <a:avLst>
              <a:gd name="adj" fmla="val 8000"/>
            </a:avLst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78440" y="5033772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92531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MILESTONE RESULT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879592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A functioning secure local-network prototype; not yet an internet-hosted production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08 /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Verification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828800"/>
            <a:ext cx="256032" cy="25603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60804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792224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API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92224"/>
            <a:ext cx="8183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Registration, conversation creation, message send/read succeeded in focused smoke checks.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2578608"/>
            <a:ext cx="256032" cy="25603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610612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542032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Crypto round trip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42032"/>
            <a:ext cx="8183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Browser encrypted/decrypted text and binary payload using generated RSA keypair.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3328415"/>
            <a:ext cx="256032" cy="25603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360420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291839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Role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291839"/>
            <a:ext cx="8183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Wrong/missing admin key denied; authorized admin can inspect records; participant messaging remains available.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" y="4078224"/>
            <a:ext cx="256032" cy="25603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10228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041648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Migration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041648"/>
            <a:ext cx="8183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11 existing encrypted records were copied to the separate message database; accounts remained intact.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" y="4828032"/>
            <a:ext cx="256032" cy="256032"/>
          </a:xfrm>
          <a:prstGeom prst="ellipse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860036"/>
            <a:ext cx="2560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791456"/>
            <a:ext cx="2011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Transport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791456"/>
            <a:ext cx="81838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HTTPS root, viewer and health endpoint returned 200 with trusted local CA.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806440"/>
            <a:ext cx="10881360" cy="438912"/>
          </a:xfrm>
          <a:prstGeom prst="roundRect">
            <a:avLst>
              <a:gd name="adj" fmla="val 8000"/>
            </a:avLst>
          </a:prstGeom>
          <a:solidFill>
            <a:srgbClr val="F6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943600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4543B"/>
                </a:solidFill>
                <a:latin typeface="Aptos"/>
              </a:rPr>
              <a:t>TESTING LIMIT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907024"/>
            <a:ext cx="8869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3A31"/>
                </a:solidFill>
                <a:latin typeface="Aptos"/>
              </a:rPr>
              <a:t>Focused functional checks were run; this is not a formal cryptographic audit or penetration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09 / FORWARD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Risks, limitations and next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59436" cy="1371600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947672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3865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Accounts and membership live on the host PC. Key fingerprints are not verified. Admin key is a local shared secret. No public deployment hardening.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78308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EFA"/>
          </a:solidFill>
          <a:ln w="10160">
            <a:solidFill>
              <a:srgbClr val="D8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783080"/>
            <a:ext cx="59436" cy="1371600"/>
          </a:xfrm>
          <a:prstGeom prst="rect">
            <a:avLst/>
          </a:prstGeom>
          <a:solidFill>
            <a:srgbClr val="EED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947672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 Display"/>
              </a:rPr>
              <a:t>SECURITY /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487375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86D"/>
                </a:solidFill>
                <a:latin typeface="Aptos"/>
              </a:rPr>
              <a:t>LAN CA trust is manual. Host PC must stay online. No rate limiting, abuse controls, formal audit, or tested disaster recovery.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9476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82676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24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 Display"/>
              </a:rPr>
              <a:t>Shared identity + 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626864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Move accounts and membership to a shared backend.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79476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82676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24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 Display"/>
              </a:rPr>
              <a:t>Production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626864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HTTPS domain, user/device key verification, rate limits and monitoring.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794760"/>
            <a:ext cx="658368" cy="256032"/>
          </a:xfrm>
          <a:prstGeom prst="roundRect">
            <a:avLst>
              <a:gd name="adj" fmla="val 8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382676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73A31"/>
                </a:solidFill>
                <a:latin typeface="Aptos"/>
              </a:rP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4224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 Display"/>
              </a:rPr>
              <a:t>Release 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4626864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86D"/>
                </a:solidFill>
                <a:latin typeface="Aptos"/>
              </a:rPr>
              <a:t>Automated test suite, recovery plan, usability review and security assessment.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97A57"/>
                </a:solidFill>
                <a:latin typeface="Aptos"/>
              </a:rPr>
              <a:t>DECISION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76986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73A31"/>
                </a:solidFill>
                <a:latin typeface="Aptos"/>
              </a:rPr>
              <a:t>Do not expose the current Flask development server directly to the public internet.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COMMONROOM  /  PROJECT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9260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4786D"/>
                </a:solidFill>
                <a:latin typeface="Aptos"/>
              </a:rPr>
              <a:t>10 /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3A31"/>
                </a:solidFill>
                <a:latin typeface="Aptos Display"/>
              </a:rPr>
              <a:t>References and submission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99032"/>
            <a:ext cx="621792" cy="50292"/>
          </a:xfrm>
          <a:prstGeom prst="rect">
            <a:avLst/>
          </a:prstGeom>
          <a:solidFill>
            <a:srgbClr val="E9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4786D"/>
                </a:solidFill>
                <a:latin typeface="DM Mono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DM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Project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83080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Commonroom codebase: server.py, index.html, database.html, README.md (accessed 15 Oct 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DM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9631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AES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96312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NIST, FIPS 197: Advanced Encryption Standard (AES), updated 2023. https://doi.org/10.6028/NIST.FIPS.197-upd1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954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DM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0954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RSA encryption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09544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IETF RFC 8017: PKCS #1 v2.2, RSA Cryptography Specifications. https://www.rfc-editor.org/rfc/rfc8017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2277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DM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2277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Web cryptography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22776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W3C Web Cryptography API. https://www.w3.org/TR/WebCryptoAPI/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3600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7A57"/>
                </a:solidFill>
                <a:latin typeface="DM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3600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3A31"/>
                </a:solidFill>
                <a:latin typeface="Aptos"/>
              </a:rPr>
              <a:t>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636008"/>
            <a:ext cx="8046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86D"/>
                </a:solidFill>
                <a:latin typeface="Aptos"/>
              </a:rPr>
              <a:t>Flask documentation. https://flask.palletsprojects.com/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2356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815584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SUBMISSION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5779008"/>
            <a:ext cx="8503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EFA"/>
                </a:solidFill>
                <a:latin typeface="Aptos"/>
              </a:rPr>
              <a:t>Student name: ____________________     Registration no.: ____________________     Supervisor: 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Commonroom Project Milestone: Methodology and Implementation</dc:title>
  <dc:subject>Academic project milestone presentation on secure multi-user messaging</dc:subject>
  <dc:creator>Commonroom project team</dc:creator>
  <cp:keywords>Commonroom, messaging, RSA-OAEP, AES-GCM, methodology, milestone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